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ee27f8e-12c2-dc4e-b27c-f705caa40c5f}">
          <p14:sldIdLst>
            <p14:sldId id="256"/>
          </p14:sldIdLst>
        </p14:section>
        <p14:section name="Le constat" id="{60c599eb-0d7a-d107-ca78-65231c451037}">
          <p14:sldIdLst>
            <p14:sldId id="257"/>
          </p14:sldIdLst>
        </p14:section>
        <p14:section name="La solution" id="{501e9b2b-4860-851b-ca8b-2703416f7dc1}">
          <p14:sldIdLst>
            <p14:sldId id="258"/>
          </p14:sldIdLst>
        </p14:section>
        <p14:section name="Le produit" id="{e70f6588-dfb0-9c3e-dda3-37744609682a}">
          <p14:sldIdLst>
            <p14:sldId id="259"/>
            <p14:sldId id="260"/>
            <p14:sldId id="261"/>
          </p14:sldIdLst>
        </p14:section>
        <p14:section name="Les garanties" id="{151f72c8-60eb-de32-8aff-09681923cb5b}">
          <p14:sldIdLst>
            <p14:sldId id="262"/>
            <p14:sldId id="263"/>
          </p14:sldIdLst>
        </p14:section>
        <p14:section name="La suite" id="{bd520b7f-99c4-4ad0-2980-4aae0a74a44f}">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ORSYNE, c’est le système d’exploitation du restaurant. Une seule plateforme pour la réservation, le plan de salle, les équipes et la connaissance client. Le slogan résume la promesse : tout s’accorde, le client, la salle et la cuisine travaillent sur la même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douleurs concrètes. Un : les doubles réservations, parce que chaque canal a sa propre vérité. Deux : les no-shows, qui vident des tables sans compensation. Trois : les allergies, notées quelque part mais jamais transmises comme une alerte au serveur et à la cuisine.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ORSYNE relie trois écrans sur une seule source de vérité. Ce que le client fait en ligne apparaît immédiatement chez le restaurant et chez le serveur, sans recharger. C’est le moment de lancer la démo en direct si vous avez le lien sous la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client : il voit uniquement les créneaux réellement disponibles, déclare ses allergies dans une liste structurée, et pour un groupe l’acompte est demandé automatiquement. Il peut annuler ou rejoindre une liste d’attente sans téléphoner.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restaurant : un tableau de bord temps réel. Les réservations arrivent seules, le plan de salle se met à jour, ORSYNE propose le serveur le moins chargé, et chaque client a sa fiche avec son historique.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salle : chaque serveur ne voit que ses tables. Une allergie s’affiche en rouge, avec sa provenance, pour qu’elle soit reconfirmée de vive voix. C’est là que la promesse « tout s’accorde » devient concrète.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règle numéro un du projet : ne jamais sacrifier la fiabilité du moteur de réservation. Deux clients ne peuvent pas obtenir la même table, c’est garanti par la base de données, pas seulement par l’application. On l’a testé avec douze demandes simultanées : une seule passe. Chaque restaurant est cloisonné, et 130 tests automatisés protègent chaque évolution.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pour un restaurateur : on ne touche pas à sa caisse. Elle reste la référence pour l’encaissement et la comptabilité. ORSYNE s’occupe de tout ce qui se passe autour, et s’appuie sur des prestataires reconnus pour les paiements et les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MVP est livré et fonctionne : moteur de réservation, plan de salle, CRM, serveurs, temps réel, acomptes, rappels et liste d’attente. La V2 ajoute l’agent téléphonique IA et les connecteurs caisse et cuisine ; le produit est déjà structuré pour les recevoir. La V3 couvre le marketing et le pilotage multi-sites.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sur l’action : la démo est disponible, la mise en ligne demande quatre comptes, et l’objectif immédiat est de trouver cinq restaurants pilotes. Le lien de démo est privé tant qu’il n’est pas partagé depuis le menu Partager.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RSYNE 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RSYNE 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ORSYNE · Tout s’accorde.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laude.ai/artifact/Fx744E3RsFN4tTLeFYyFXW" TargetMode="Externa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arque"/>
          <p:cNvSpPr txBox="1"/>
          <p:nvPr/>
        </p:nvSpPr>
        <p:spPr>
          <a:xfrm>
            <a:off x="640080" y="1920240"/>
            <a:ext cx="10881360" cy="1188720"/>
          </a:xfrm>
          <a:prstGeom prst="rect">
            <a:avLst/>
          </a:prstGeom>
          <a:noFill/>
          <a:ln/>
        </p:spPr>
        <p:txBody>
          <a:bodyPr wrap="square" lIns="0" tIns="0" rIns="0" bIns="0" rtlCol="0" anchor="ctr"/>
          <a:lstStyle/>
          <a:p>
            <a:pPr indent="0" marL="0">
              <a:buNone/>
            </a:pPr>
            <a:r>
              <a:rPr lang="en-US" sz="7200" b="1" spc="2400" kern="0" dirty="0">
                <a:solidFill>
                  <a:schemeClr val="bg1"/>
                </a:solidFill>
                <a:latin typeface="Calibri" pitchFamily="34" charset="0"/>
                <a:ea typeface="Calibri" pitchFamily="34" charset="-122"/>
                <a:cs typeface="Calibri" pitchFamily="34" charset="-120"/>
              </a:rPr>
              <a:t>ORSYNE</a:t>
            </a:r>
            <a:endParaRPr lang="en-US" sz="7200" dirty="0"/>
          </a:p>
        </p:txBody>
      </p:sp>
      <p:sp>
        <p:nvSpPr>
          <p:cNvPr id="3" name="slogan"/>
          <p:cNvSpPr txBox="1"/>
          <p:nvPr/>
        </p:nvSpPr>
        <p:spPr>
          <a:xfrm>
            <a:off x="640080" y="3154680"/>
            <a:ext cx="10881360" cy="822960"/>
          </a:xfrm>
          <a:prstGeom prst="rect">
            <a:avLst/>
          </a:prstGeom>
          <a:noFill/>
          <a:ln/>
        </p:spPr>
        <p:txBody>
          <a:bodyPr wrap="square" lIns="0" tIns="0" rIns="0" bIns="0" rtlCol="0" anchor="ctr"/>
          <a:lstStyle/>
          <a:p>
            <a:pPr indent="0" marL="0">
              <a:buNone/>
            </a:pPr>
            <a:r>
              <a:rPr lang="en-US" sz="4000" i="1" dirty="0">
                <a:solidFill>
                  <a:schemeClr val="accent2"/>
                </a:solidFill>
                <a:latin typeface="Cambria" pitchFamily="34" charset="0"/>
                <a:ea typeface="Cambria" pitchFamily="34" charset="-122"/>
                <a:cs typeface="Cambria" pitchFamily="34" charset="-120"/>
              </a:rPr>
              <a:t>Tout s’accorde.</a:t>
            </a:r>
            <a:endParaRPr lang="en-US" sz="4000" dirty="0"/>
          </a:p>
        </p:txBody>
      </p:sp>
      <p:sp>
        <p:nvSpPr>
          <p:cNvPr id="4" name="promesse"/>
          <p:cNvSpPr txBox="1"/>
          <p:nvPr/>
        </p:nvSpPr>
        <p:spPr>
          <a:xfrm>
            <a:off x="640080" y="4206240"/>
            <a:ext cx="8686800" cy="822960"/>
          </a:xfrm>
          <a:prstGeom prst="rect">
            <a:avLst/>
          </a:prstGeom>
          <a:noFill/>
          <a:ln/>
        </p:spPr>
        <p:txBody>
          <a:bodyPr wrap="square" lIns="0" tIns="0" rIns="0" bIns="0" rtlCol="0" anchor="ctr"/>
          <a:lstStyle/>
          <a:p>
            <a:pPr indent="0" marL="0">
              <a:buNone/>
            </a:pPr>
            <a:r>
              <a:rPr lang="en-US" sz="1800" dirty="0">
                <a:solidFill>
                  <a:srgbClr val="C9D0DE"/>
                </a:solidFill>
              </a:rPr>
              <a:t>Le système d’exploitation du restaurant : réservations, salle, équipes et clients dans un seul système.</a:t>
            </a:r>
            <a:endParaRPr lang="en-US" sz="1800" dirty="0"/>
          </a:p>
        </p:txBody>
      </p:sp>
      <p:sp>
        <p:nvSpPr>
          <p:cNvPr id="5" name="date"/>
          <p:cNvSpPr txBox="1"/>
          <p:nvPr/>
        </p:nvSpPr>
        <p:spPr>
          <a:xfrm>
            <a:off x="640080" y="6035040"/>
            <a:ext cx="5486400" cy="365760"/>
          </a:xfrm>
          <a:prstGeom prst="rect">
            <a:avLst/>
          </a:prstGeom>
          <a:noFill/>
          <a:ln/>
        </p:spPr>
        <p:txBody>
          <a:bodyPr wrap="square" lIns="0" tIns="0" rIns="0" bIns="0" rtlCol="0" anchor="ctr"/>
          <a:lstStyle/>
          <a:p>
            <a:pPr indent="0" marL="0">
              <a:buNone/>
            </a:pPr>
            <a:r>
              <a:rPr lang="en-US" sz="1200" dirty="0">
                <a:solidFill>
                  <a:srgbClr val="8A93A6"/>
                </a:solidFill>
              </a:rPr>
              <a:t>Présentation · octobre 2026</a:t>
            </a:r>
            <a:endParaRPr lang="en-US" sz="1200" dirty="0"/>
          </a:p>
        </p:txBody>
      </p:sp>
      <p:sp>
        <p:nvSpPr>
          <p:cNvPr id="7" name="Text 0"/>
          <p:cNvSpPr/>
          <p:nvPr>
            <p:ph idx="100" type="title" hasCustomPrompt="1"/>
          </p:nvPr>
        </p:nvSpPr>
        <p:spPr>
          <a:xfrm>
            <a:off x="640080" y="457200"/>
            <a:ext cx="10881360" cy="914400"/>
          </a:xfrm>
          <a:prstGeom prst="rect">
            <a:avLst/>
          </a:prstGeom>
          <a:noFill/>
          <a:ln/>
        </p:spPr>
        <p:txBody>
          <a:bodyPr wrap="square" lIns="0" tIns="0" rIns="0" bIns="0" rtlCol="0" anchor="ctr"/>
          <a:lstStyle/>
          <a:p>
            <a:pPr algn="l" indent="0" marL="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Les outils du restaurant ne se parlent pas</a:t>
            </a:r>
            <a:endParaRPr lang="en-US" sz="3400" dirty="0"/>
          </a:p>
        </p:txBody>
      </p:sp>
      <p:sp>
        <p:nvSpPr>
          <p:cNvPr id="3" name="douleur-1-carte"/>
          <p:cNvSpPr/>
          <p:nvPr/>
        </p:nvSpPr>
        <p:spPr>
          <a:xfrm>
            <a:off x="640080" y="1737360"/>
            <a:ext cx="3429000" cy="3657600"/>
          </a:xfrm>
          <a:prstGeom prst="roundRect">
            <a:avLst>
              <a:gd name="adj" fmla="val 4000"/>
            </a:avLst>
          </a:prstGeom>
          <a:solidFill>
            <a:schemeClr val="bg2"/>
          </a:solidFill>
          <a:ln/>
        </p:spPr>
      </p:sp>
      <p:sp>
        <p:nvSpPr>
          <p:cNvPr id="4" name="douleur-1-pastille"/>
          <p:cNvSpPr/>
          <p:nvPr/>
        </p:nvSpPr>
        <p:spPr>
          <a:xfrm>
            <a:off x="1051560" y="2148840"/>
            <a:ext cx="868680" cy="868680"/>
          </a:xfrm>
          <a:prstGeom prst="ellipse">
            <a:avLst/>
          </a:prstGeom>
          <a:solidFill>
            <a:schemeClr val="accent3"/>
          </a:solidFill>
          <a:ln/>
        </p:spPr>
      </p:sp>
      <p:pic>
        <p:nvPicPr>
          <p:cNvPr id="5" name="douleur-1-icone" descr="preencoded.png">    </p:cNvPr>
          <p:cNvPicPr>
            <a:picLocks noChangeAspect="1"/>
          </p:cNvPicPr>
          <p:nvPr/>
        </p:nvPicPr>
        <p:blipFill>
          <a:blip r:embed="rId1"/>
          <a:stretch>
            <a:fillRect/>
          </a:stretch>
        </p:blipFill>
        <p:spPr>
          <a:xfrm>
            <a:off x="1261872" y="2359152"/>
            <a:ext cx="448056" cy="448056"/>
          </a:xfrm>
          <a:prstGeom prst="rect">
            <a:avLst/>
          </a:prstGeom>
        </p:spPr>
      </p:pic>
      <p:sp>
        <p:nvSpPr>
          <p:cNvPr id="6" name="douleur-1-titre"/>
          <p:cNvSpPr txBox="1"/>
          <p:nvPr/>
        </p:nvSpPr>
        <p:spPr>
          <a:xfrm>
            <a:off x="1051560" y="3291840"/>
            <a:ext cx="2697480" cy="868680"/>
          </a:xfrm>
          <a:prstGeom prst="rect">
            <a:avLst/>
          </a:prstGeom>
          <a:noFill/>
          <a:ln/>
        </p:spPr>
        <p:txBody>
          <a:bodyPr wrap="square" lIns="0" tIns="0" rIns="0" bIns="0" rtlCol="0" anchor="t"/>
          <a:lstStyle/>
          <a:p>
            <a:pPr indent="0" marL="0">
              <a:buNone/>
            </a:pPr>
            <a:r>
              <a:rPr lang="en-US" sz="2100" b="1" dirty="0">
                <a:solidFill>
                  <a:schemeClr val="tx1"/>
                </a:solidFill>
              </a:rPr>
              <a:t>Deux clients, une même table</a:t>
            </a:r>
            <a:endParaRPr lang="en-US" sz="2100" dirty="0"/>
          </a:p>
        </p:txBody>
      </p:sp>
      <p:sp>
        <p:nvSpPr>
          <p:cNvPr id="7" name="douleur-1-texte"/>
          <p:cNvSpPr txBox="1"/>
          <p:nvPr/>
        </p:nvSpPr>
        <p:spPr>
          <a:xfrm>
            <a:off x="1051560" y="4206240"/>
            <a:ext cx="2697480" cy="1280160"/>
          </a:xfrm>
          <a:prstGeom prst="rect">
            <a:avLst/>
          </a:prstGeom>
          <a:noFill/>
          <a:ln/>
        </p:spPr>
        <p:txBody>
          <a:bodyPr wrap="square" lIns="0" tIns="0" rIns="0" bIns="0" rtlCol="0" anchor="t"/>
          <a:lstStyle/>
          <a:p>
            <a:pPr indent="0" marL="0">
              <a:buNone/>
            </a:pPr>
            <a:r>
              <a:rPr lang="en-US" sz="1500" dirty="0">
                <a:solidFill>
                  <a:schemeClr val="accent6"/>
                </a:solidFill>
              </a:rPr>
              <a:t>Carnet, site et téléphone tiennent chacun leur version du service.</a:t>
            </a:r>
            <a:endParaRPr lang="en-US" sz="1500" dirty="0"/>
          </a:p>
        </p:txBody>
      </p:sp>
      <p:sp>
        <p:nvSpPr>
          <p:cNvPr id="8" name="douleur-2-carte"/>
          <p:cNvSpPr/>
          <p:nvPr/>
        </p:nvSpPr>
        <p:spPr>
          <a:xfrm>
            <a:off x="4343400" y="1737360"/>
            <a:ext cx="3429000" cy="3657600"/>
          </a:xfrm>
          <a:prstGeom prst="roundRect">
            <a:avLst>
              <a:gd name="adj" fmla="val 4000"/>
            </a:avLst>
          </a:prstGeom>
          <a:solidFill>
            <a:schemeClr val="bg2"/>
          </a:solidFill>
          <a:ln/>
        </p:spPr>
      </p:sp>
      <p:sp>
        <p:nvSpPr>
          <p:cNvPr id="9" name="douleur-2-pastille"/>
          <p:cNvSpPr/>
          <p:nvPr/>
        </p:nvSpPr>
        <p:spPr>
          <a:xfrm>
            <a:off x="4754880" y="2148840"/>
            <a:ext cx="868680" cy="868680"/>
          </a:xfrm>
          <a:prstGeom prst="ellipse">
            <a:avLst/>
          </a:prstGeom>
          <a:solidFill>
            <a:schemeClr val="accent3"/>
          </a:solidFill>
          <a:ln/>
        </p:spPr>
      </p:sp>
      <p:pic>
        <p:nvPicPr>
          <p:cNvPr id="10" name="douleur-2-icone" descr="preencoded.png">    </p:cNvPr>
          <p:cNvPicPr>
            <a:picLocks noChangeAspect="1"/>
          </p:cNvPicPr>
          <p:nvPr/>
        </p:nvPicPr>
        <p:blipFill>
          <a:blip r:embed="rId2"/>
          <a:stretch>
            <a:fillRect/>
          </a:stretch>
        </p:blipFill>
        <p:spPr>
          <a:xfrm>
            <a:off x="4965192" y="2359152"/>
            <a:ext cx="448056" cy="448056"/>
          </a:xfrm>
          <a:prstGeom prst="rect">
            <a:avLst/>
          </a:prstGeom>
        </p:spPr>
      </p:pic>
      <p:sp>
        <p:nvSpPr>
          <p:cNvPr id="11" name="douleur-2-titre"/>
          <p:cNvSpPr txBox="1"/>
          <p:nvPr/>
        </p:nvSpPr>
        <p:spPr>
          <a:xfrm>
            <a:off x="4754880" y="3291840"/>
            <a:ext cx="2697480" cy="868680"/>
          </a:xfrm>
          <a:prstGeom prst="rect">
            <a:avLst/>
          </a:prstGeom>
          <a:noFill/>
          <a:ln/>
        </p:spPr>
        <p:txBody>
          <a:bodyPr wrap="square" lIns="0" tIns="0" rIns="0" bIns="0" rtlCol="0" anchor="t"/>
          <a:lstStyle/>
          <a:p>
            <a:pPr indent="0" marL="0">
              <a:buNone/>
            </a:pPr>
            <a:r>
              <a:rPr lang="en-US" sz="2100" b="1" dirty="0">
                <a:solidFill>
                  <a:schemeClr val="tx1"/>
                </a:solidFill>
              </a:rPr>
              <a:t>Des tables vides</a:t>
            </a:r>
            <a:endParaRPr lang="en-US" sz="2100" dirty="0"/>
          </a:p>
        </p:txBody>
      </p:sp>
      <p:sp>
        <p:nvSpPr>
          <p:cNvPr id="12" name="douleur-2-texte"/>
          <p:cNvSpPr txBox="1"/>
          <p:nvPr/>
        </p:nvSpPr>
        <p:spPr>
          <a:xfrm>
            <a:off x="4754880" y="4206240"/>
            <a:ext cx="2697480" cy="1280160"/>
          </a:xfrm>
          <a:prstGeom prst="rect">
            <a:avLst/>
          </a:prstGeom>
          <a:noFill/>
          <a:ln/>
        </p:spPr>
        <p:txBody>
          <a:bodyPr wrap="square" lIns="0" tIns="0" rIns="0" bIns="0" rtlCol="0" anchor="t"/>
          <a:lstStyle/>
          <a:p>
            <a:pPr indent="0" marL="0">
              <a:buNone/>
            </a:pPr>
            <a:r>
              <a:rPr lang="en-US" sz="1500" dirty="0">
                <a:solidFill>
                  <a:schemeClr val="accent6"/>
                </a:solidFill>
              </a:rPr>
              <a:t>Les no-shows coûtent un service entier, surtout sur les groupes.</a:t>
            </a:r>
            <a:endParaRPr lang="en-US" sz="1500" dirty="0"/>
          </a:p>
        </p:txBody>
      </p:sp>
      <p:sp>
        <p:nvSpPr>
          <p:cNvPr id="13" name="douleur-3-carte"/>
          <p:cNvSpPr/>
          <p:nvPr/>
        </p:nvSpPr>
        <p:spPr>
          <a:xfrm>
            <a:off x="8046720" y="1737360"/>
            <a:ext cx="3429000" cy="3657600"/>
          </a:xfrm>
          <a:prstGeom prst="roundRect">
            <a:avLst>
              <a:gd name="adj" fmla="val 4000"/>
            </a:avLst>
          </a:prstGeom>
          <a:solidFill>
            <a:schemeClr val="bg2"/>
          </a:solidFill>
          <a:ln/>
        </p:spPr>
      </p:sp>
      <p:sp>
        <p:nvSpPr>
          <p:cNvPr id="14" name="douleur-3-pastille"/>
          <p:cNvSpPr/>
          <p:nvPr/>
        </p:nvSpPr>
        <p:spPr>
          <a:xfrm>
            <a:off x="8458200" y="2148840"/>
            <a:ext cx="868680" cy="868680"/>
          </a:xfrm>
          <a:prstGeom prst="ellipse">
            <a:avLst/>
          </a:prstGeom>
          <a:solidFill>
            <a:schemeClr val="accent4"/>
          </a:solidFill>
          <a:ln/>
        </p:spPr>
      </p:sp>
      <p:pic>
        <p:nvPicPr>
          <p:cNvPr id="15" name="douleur-3-icone" descr="preencoded.png">    </p:cNvPr>
          <p:cNvPicPr>
            <a:picLocks noChangeAspect="1"/>
          </p:cNvPicPr>
          <p:nvPr/>
        </p:nvPicPr>
        <p:blipFill>
          <a:blip r:embed="rId3"/>
          <a:stretch>
            <a:fillRect/>
          </a:stretch>
        </p:blipFill>
        <p:spPr>
          <a:xfrm>
            <a:off x="8668512" y="2359152"/>
            <a:ext cx="448056" cy="448056"/>
          </a:xfrm>
          <a:prstGeom prst="rect">
            <a:avLst/>
          </a:prstGeom>
        </p:spPr>
      </p:pic>
      <p:sp>
        <p:nvSpPr>
          <p:cNvPr id="16" name="douleur-3-titre"/>
          <p:cNvSpPr txBox="1"/>
          <p:nvPr/>
        </p:nvSpPr>
        <p:spPr>
          <a:xfrm>
            <a:off x="8458200" y="3291840"/>
            <a:ext cx="2697480" cy="868680"/>
          </a:xfrm>
          <a:prstGeom prst="rect">
            <a:avLst/>
          </a:prstGeom>
          <a:noFill/>
          <a:ln/>
        </p:spPr>
        <p:txBody>
          <a:bodyPr wrap="square" lIns="0" tIns="0" rIns="0" bIns="0" rtlCol="0" anchor="t"/>
          <a:lstStyle/>
          <a:p>
            <a:pPr indent="0" marL="0">
              <a:buNone/>
            </a:pPr>
            <a:r>
              <a:rPr lang="en-US" sz="2100" b="1" dirty="0">
                <a:solidFill>
                  <a:schemeClr val="tx1"/>
                </a:solidFill>
              </a:rPr>
              <a:t>Des allergies perdues</a:t>
            </a:r>
            <a:endParaRPr lang="en-US" sz="2100" dirty="0"/>
          </a:p>
        </p:txBody>
      </p:sp>
      <p:sp>
        <p:nvSpPr>
          <p:cNvPr id="17" name="douleur-3-texte"/>
          <p:cNvSpPr txBox="1"/>
          <p:nvPr/>
        </p:nvSpPr>
        <p:spPr>
          <a:xfrm>
            <a:off x="8458200" y="4206240"/>
            <a:ext cx="2697480" cy="1280160"/>
          </a:xfrm>
          <a:prstGeom prst="rect">
            <a:avLst/>
          </a:prstGeom>
          <a:noFill/>
          <a:ln/>
        </p:spPr>
        <p:txBody>
          <a:bodyPr wrap="square" lIns="0" tIns="0" rIns="0" bIns="0" rtlCol="0" anchor="t"/>
          <a:lstStyle/>
          <a:p>
            <a:pPr indent="0" marL="0">
              <a:buNone/>
            </a:pPr>
            <a:r>
              <a:rPr lang="en-US" sz="1500" dirty="0">
                <a:solidFill>
                  <a:schemeClr val="accent6"/>
                </a:solidFill>
              </a:rPr>
              <a:t>Notées dans un champ « remarques », elles n’arrivent jamais en salle.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914400"/>
          </a:xfrm>
          <a:prstGeom prst="rect">
            <a:avLst/>
          </a:prstGeom>
          <a:noFill/>
          <a:ln/>
        </p:spPr>
        <p:txBody>
          <a:bodyPr wrap="square" lIns="0" tIns="0" rIns="0" bIns="0" rtlCol="0" anchor="ctr"/>
          <a:lstStyle/>
          <a:p>
            <a:pPr algn="l" indent="0" marL="0">
              <a:buNone/>
            </a:pPr>
            <a:r>
              <a:rPr lang="en-US" sz="3600" b="1" dirty="0">
                <a:solidFill>
                  <a:schemeClr val="bg1"/>
                </a:solidFill>
              </a:rPr>
              <a:t>Une plateforme, trois écrans, </a:t>
            </a:r>
            <a:pPr algn="l" indent="0" marL="0">
              <a:buNone/>
            </a:pPr>
            <a:r>
              <a:rPr lang="en-US" sz="3600" b="1" i="1" dirty="0">
                <a:solidFill>
                  <a:schemeClr val="accent2"/>
                </a:solidFill>
              </a:rPr>
              <a:t>en direct</a:t>
            </a:r>
            <a:endParaRPr lang="en-US" sz="3600" dirty="0"/>
          </a:p>
        </p:txBody>
      </p:sp>
      <p:sp>
        <p:nvSpPr>
          <p:cNvPr id="3" name="ecran-1-pastille"/>
          <p:cNvSpPr/>
          <p:nvPr/>
        </p:nvSpPr>
        <p:spPr>
          <a:xfrm>
            <a:off x="640080" y="1874520"/>
            <a:ext cx="566928" cy="566928"/>
          </a:xfrm>
          <a:prstGeom prst="ellipse">
            <a:avLst/>
          </a:prstGeom>
          <a:solidFill>
            <a:schemeClr val="accent2"/>
          </a:solidFill>
          <a:ln/>
        </p:spPr>
      </p:sp>
      <p:pic>
        <p:nvPicPr>
          <p:cNvPr id="4" name="ecran-1-icone" descr="preencoded.png">    </p:cNvPr>
          <p:cNvPicPr>
            <a:picLocks noChangeAspect="1"/>
          </p:cNvPicPr>
          <p:nvPr/>
        </p:nvPicPr>
        <p:blipFill>
          <a:blip r:embed="rId1"/>
          <a:stretch>
            <a:fillRect/>
          </a:stretch>
        </p:blipFill>
        <p:spPr>
          <a:xfrm>
            <a:off x="786384" y="2020824"/>
            <a:ext cx="274320" cy="274320"/>
          </a:xfrm>
          <a:prstGeom prst="rect">
            <a:avLst/>
          </a:prstGeom>
        </p:spPr>
      </p:pic>
      <p:sp>
        <p:nvSpPr>
          <p:cNvPr id="5" name="ecran-1-texte"/>
          <p:cNvSpPr txBox="1"/>
          <p:nvPr/>
        </p:nvSpPr>
        <p:spPr>
          <a:xfrm>
            <a:off x="1417320" y="1828800"/>
            <a:ext cx="2240280" cy="914400"/>
          </a:xfrm>
          <a:prstGeom prst="rect">
            <a:avLst/>
          </a:prstGeom>
          <a:noFill/>
          <a:ln/>
        </p:spPr>
        <p:txBody>
          <a:bodyPr wrap="square" lIns="0" tIns="0" rIns="0" bIns="0" rtlCol="0" anchor="t"/>
          <a:lstStyle/>
          <a:p>
            <a:pPr indent="0" marL="0">
              <a:buNone/>
            </a:pPr>
            <a:r>
              <a:rPr lang="en-US" sz="1900" b="1" dirty="0">
                <a:solidFill>
                  <a:schemeClr val="bg1"/>
                </a:solidFill>
              </a:rPr>
              <a:t>Le client</a:t>
            </a:r>
            <a:endParaRPr lang="en-US" sz="1900" dirty="0"/>
          </a:p>
          <a:p>
            <a:pPr indent="0" marL="0">
              <a:buNone/>
            </a:pPr>
            <a:r>
              <a:rPr lang="en-US" sz="1400" dirty="0">
                <a:solidFill>
                  <a:srgbClr val="C9D0DE"/>
                </a:solidFill>
              </a:rPr>
              <a:t>réserve en ligne, à toute heure</a:t>
            </a:r>
            <a:endParaRPr lang="en-US" sz="1900" dirty="0"/>
          </a:p>
        </p:txBody>
      </p:sp>
      <p:sp>
        <p:nvSpPr>
          <p:cNvPr id="6" name="ecran-2-pastille"/>
          <p:cNvSpPr/>
          <p:nvPr/>
        </p:nvSpPr>
        <p:spPr>
          <a:xfrm>
            <a:off x="640080" y="3246120"/>
            <a:ext cx="566928" cy="566928"/>
          </a:xfrm>
          <a:prstGeom prst="ellipse">
            <a:avLst/>
          </a:prstGeom>
          <a:solidFill>
            <a:schemeClr val="accent2"/>
          </a:solidFill>
          <a:ln/>
        </p:spPr>
      </p:sp>
      <p:pic>
        <p:nvPicPr>
          <p:cNvPr id="7" name="ecran-2-icone" descr="preencoded.png">    </p:cNvPr>
          <p:cNvPicPr>
            <a:picLocks noChangeAspect="1"/>
          </p:cNvPicPr>
          <p:nvPr/>
        </p:nvPicPr>
        <p:blipFill>
          <a:blip r:embed="rId2"/>
          <a:stretch>
            <a:fillRect/>
          </a:stretch>
        </p:blipFill>
        <p:spPr>
          <a:xfrm>
            <a:off x="786384" y="3392424"/>
            <a:ext cx="274320" cy="274320"/>
          </a:xfrm>
          <a:prstGeom prst="rect">
            <a:avLst/>
          </a:prstGeom>
        </p:spPr>
      </p:pic>
      <p:sp>
        <p:nvSpPr>
          <p:cNvPr id="8" name="ecran-2-texte"/>
          <p:cNvSpPr txBox="1"/>
          <p:nvPr/>
        </p:nvSpPr>
        <p:spPr>
          <a:xfrm>
            <a:off x="1417320" y="3200400"/>
            <a:ext cx="2240280" cy="914400"/>
          </a:xfrm>
          <a:prstGeom prst="rect">
            <a:avLst/>
          </a:prstGeom>
          <a:noFill/>
          <a:ln/>
        </p:spPr>
        <p:txBody>
          <a:bodyPr wrap="square" lIns="0" tIns="0" rIns="0" bIns="0" rtlCol="0" anchor="t"/>
          <a:lstStyle/>
          <a:p>
            <a:pPr indent="0" marL="0">
              <a:buNone/>
            </a:pPr>
            <a:r>
              <a:rPr lang="en-US" sz="1900" b="1" dirty="0">
                <a:solidFill>
                  <a:schemeClr val="bg1"/>
                </a:solidFill>
              </a:rPr>
              <a:t>Le restaurant</a:t>
            </a:r>
            <a:endParaRPr lang="en-US" sz="1900" dirty="0"/>
          </a:p>
          <a:p>
            <a:pPr indent="0" marL="0">
              <a:buNone/>
            </a:pPr>
            <a:r>
              <a:rPr lang="en-US" sz="1400" dirty="0">
                <a:solidFill>
                  <a:srgbClr val="C9D0DE"/>
                </a:solidFill>
              </a:rPr>
              <a:t>pilote son service</a:t>
            </a:r>
            <a:endParaRPr lang="en-US" sz="1900" dirty="0"/>
          </a:p>
        </p:txBody>
      </p:sp>
      <p:sp>
        <p:nvSpPr>
          <p:cNvPr id="9" name="ecran-3-pastille"/>
          <p:cNvSpPr/>
          <p:nvPr/>
        </p:nvSpPr>
        <p:spPr>
          <a:xfrm>
            <a:off x="640080" y="4617720"/>
            <a:ext cx="566928" cy="566928"/>
          </a:xfrm>
          <a:prstGeom prst="ellipse">
            <a:avLst/>
          </a:prstGeom>
          <a:solidFill>
            <a:schemeClr val="accent2"/>
          </a:solidFill>
          <a:ln/>
        </p:spPr>
      </p:sp>
      <p:pic>
        <p:nvPicPr>
          <p:cNvPr id="10" name="ecran-3-icone" descr="preencoded.png">    </p:cNvPr>
          <p:cNvPicPr>
            <a:picLocks noChangeAspect="1"/>
          </p:cNvPicPr>
          <p:nvPr/>
        </p:nvPicPr>
        <p:blipFill>
          <a:blip r:embed="rId3"/>
          <a:stretch>
            <a:fillRect/>
          </a:stretch>
        </p:blipFill>
        <p:spPr>
          <a:xfrm>
            <a:off x="786384" y="4764024"/>
            <a:ext cx="274320" cy="274320"/>
          </a:xfrm>
          <a:prstGeom prst="rect">
            <a:avLst/>
          </a:prstGeom>
        </p:spPr>
      </p:pic>
      <p:sp>
        <p:nvSpPr>
          <p:cNvPr id="11" name="ecran-3-texte"/>
          <p:cNvSpPr txBox="1"/>
          <p:nvPr/>
        </p:nvSpPr>
        <p:spPr>
          <a:xfrm>
            <a:off x="1417320" y="4572000"/>
            <a:ext cx="2240280" cy="914400"/>
          </a:xfrm>
          <a:prstGeom prst="rect">
            <a:avLst/>
          </a:prstGeom>
          <a:noFill/>
          <a:ln/>
        </p:spPr>
        <p:txBody>
          <a:bodyPr wrap="square" lIns="0" tIns="0" rIns="0" bIns="0" rtlCol="0" anchor="t"/>
          <a:lstStyle/>
          <a:p>
            <a:pPr indent="0" marL="0">
              <a:buNone/>
            </a:pPr>
            <a:r>
              <a:rPr lang="en-US" sz="1900" b="1" dirty="0">
                <a:solidFill>
                  <a:schemeClr val="bg1"/>
                </a:solidFill>
              </a:rPr>
              <a:t>Le serveur</a:t>
            </a:r>
            <a:endParaRPr lang="en-US" sz="1900" dirty="0"/>
          </a:p>
          <a:p>
            <a:pPr indent="0" marL="0">
              <a:buNone/>
            </a:pPr>
            <a:r>
              <a:rPr lang="en-US" sz="1400" dirty="0">
                <a:solidFill>
                  <a:srgbClr val="C9D0DE"/>
                </a:solidFill>
              </a:rPr>
              <a:t>sait tout avant d’arriver à table</a:t>
            </a:r>
            <a:endParaRPr lang="en-US" sz="1900" dirty="0"/>
          </a:p>
        </p:txBody>
      </p:sp>
      <p:pic>
        <p:nvPicPr>
          <p:cNvPr id="12" name="capture-trois-ecrans" descr="/tmp/claude-0/-home-user-kao-v2-live/65950b2c-2b2e-51ae-bc2c-910e53a95d51/scratchpad/media/out/shot-vue-ensemble.png">    </p:cNvPr>
          <p:cNvPicPr>
            <a:picLocks noChangeAspect="1"/>
          </p:cNvPicPr>
          <p:nvPr/>
        </p:nvPicPr>
        <p:blipFill>
          <a:blip r:embed="rId4"/>
          <a:stretch>
            <a:fillRect/>
          </a:stretch>
        </p:blipFill>
        <p:spPr>
          <a:xfrm>
            <a:off x="3794760" y="1691640"/>
            <a:ext cx="7772400" cy="4371975"/>
          </a:xfrm>
          <a:prstGeom prst="rect">
            <a:avLst/>
          </a:prstGeom>
        </p:spPr>
      </p:pic>
      <p:sp>
        <p:nvSpPr>
          <p:cNvPr id="13" name="legende-capture"/>
          <p:cNvSpPr txBox="1"/>
          <p:nvPr/>
        </p:nvSpPr>
        <p:spPr>
          <a:xfrm>
            <a:off x="3794760" y="6172200"/>
            <a:ext cx="7772400" cy="320040"/>
          </a:xfrm>
          <a:prstGeom prst="rect">
            <a:avLst/>
          </a:prstGeom>
          <a:noFill/>
          <a:ln/>
        </p:spPr>
        <p:txBody>
          <a:bodyPr wrap="square" lIns="0" tIns="0" rIns="0" bIns="0" rtlCol="0" anchor="ctr"/>
          <a:lstStyle/>
          <a:p>
            <a:pPr indent="0" marL="0">
              <a:buNone/>
            </a:pPr>
            <a:r>
              <a:rPr lang="en-US" sz="1100" dirty="0">
                <a:solidFill>
                  <a:srgbClr val="8A93A6"/>
                </a:solidFill>
              </a:rPr>
              <a:t>Capture du produit réel : une réservation faite côté client apparaît aussitôt chez le restaurant et le serveur.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Le client réserve seul, en confiance</a:t>
            </a:r>
            <a:endParaRPr lang="en-US" sz="3400" dirty="0"/>
          </a:p>
        </p:txBody>
      </p:sp>
      <p:sp>
        <p:nvSpPr>
          <p:cNvPr id="3" name="client-1-pastille"/>
          <p:cNvSpPr/>
          <p:nvPr/>
        </p:nvSpPr>
        <p:spPr>
          <a:xfrm>
            <a:off x="640080" y="1691640"/>
            <a:ext cx="566928" cy="566928"/>
          </a:xfrm>
          <a:prstGeom prst="ellipse">
            <a:avLst/>
          </a:prstGeom>
          <a:solidFill>
            <a:schemeClr val="accent3"/>
          </a:solidFill>
          <a:ln/>
        </p:spPr>
      </p:sp>
      <p:pic>
        <p:nvPicPr>
          <p:cNvPr id="4" name="client-1-icone" descr="preencoded.png">    </p:cNvPr>
          <p:cNvPicPr>
            <a:picLocks noChangeAspect="1"/>
          </p:cNvPicPr>
          <p:nvPr/>
        </p:nvPicPr>
        <p:blipFill>
          <a:blip r:embed="rId1"/>
          <a:stretch>
            <a:fillRect/>
          </a:stretch>
        </p:blipFill>
        <p:spPr>
          <a:xfrm>
            <a:off x="786384" y="1837944"/>
            <a:ext cx="274320" cy="274320"/>
          </a:xfrm>
          <a:prstGeom prst="rect">
            <a:avLst/>
          </a:prstGeom>
        </p:spPr>
      </p:pic>
      <p:sp>
        <p:nvSpPr>
          <p:cNvPr id="5" name="client-1-texte"/>
          <p:cNvSpPr txBox="1"/>
          <p:nvPr/>
        </p:nvSpPr>
        <p:spPr>
          <a:xfrm>
            <a:off x="1417320" y="1655064"/>
            <a:ext cx="580644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Disponibilités réelles</a:t>
            </a:r>
            <a:endParaRPr lang="en-US" sz="1800" dirty="0"/>
          </a:p>
          <a:p>
            <a:pPr indent="0" marL="0">
              <a:spcAft>
                <a:spcPts val="200"/>
              </a:spcAft>
              <a:buNone/>
            </a:pPr>
            <a:r>
              <a:rPr lang="en-US" sz="1400" dirty="0">
                <a:solidFill>
                  <a:schemeClr val="accent6"/>
                </a:solidFill>
              </a:rPr>
              <a:t>Seuls les créneaux vraiment libres sont proposés.</a:t>
            </a:r>
            <a:endParaRPr lang="en-US" sz="1800" dirty="0"/>
          </a:p>
        </p:txBody>
      </p:sp>
      <p:sp>
        <p:nvSpPr>
          <p:cNvPr id="6" name="client-2-pastille"/>
          <p:cNvSpPr/>
          <p:nvPr/>
        </p:nvSpPr>
        <p:spPr>
          <a:xfrm>
            <a:off x="640080" y="2807208"/>
            <a:ext cx="566928" cy="566928"/>
          </a:xfrm>
          <a:prstGeom prst="ellipse">
            <a:avLst/>
          </a:prstGeom>
          <a:solidFill>
            <a:schemeClr val="accent3"/>
          </a:solidFill>
          <a:ln/>
        </p:spPr>
      </p:sp>
      <p:pic>
        <p:nvPicPr>
          <p:cNvPr id="7" name="client-2-icone" descr="preencoded.png">    </p:cNvPr>
          <p:cNvPicPr>
            <a:picLocks noChangeAspect="1"/>
          </p:cNvPicPr>
          <p:nvPr/>
        </p:nvPicPr>
        <p:blipFill>
          <a:blip r:embed="rId2"/>
          <a:stretch>
            <a:fillRect/>
          </a:stretch>
        </p:blipFill>
        <p:spPr>
          <a:xfrm>
            <a:off x="786384" y="2953512"/>
            <a:ext cx="274320" cy="274320"/>
          </a:xfrm>
          <a:prstGeom prst="rect">
            <a:avLst/>
          </a:prstGeom>
        </p:spPr>
      </p:pic>
      <p:sp>
        <p:nvSpPr>
          <p:cNvPr id="8" name="client-2-texte"/>
          <p:cNvSpPr txBox="1"/>
          <p:nvPr/>
        </p:nvSpPr>
        <p:spPr>
          <a:xfrm>
            <a:off x="1417320" y="2770632"/>
            <a:ext cx="580644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Allergies structurées</a:t>
            </a:r>
            <a:endParaRPr lang="en-US" sz="1800" dirty="0"/>
          </a:p>
          <a:p>
            <a:pPr indent="0" marL="0">
              <a:spcAft>
                <a:spcPts val="200"/>
              </a:spcAft>
              <a:buNone/>
            </a:pPr>
            <a:r>
              <a:rPr lang="en-US" sz="1400" dirty="0">
                <a:solidFill>
                  <a:schemeClr val="accent6"/>
                </a:solidFill>
              </a:rPr>
              <a:t>Les 14 allergènes européens, transmis comme une alerte.</a:t>
            </a:r>
            <a:endParaRPr lang="en-US" sz="1800" dirty="0"/>
          </a:p>
        </p:txBody>
      </p:sp>
      <p:sp>
        <p:nvSpPr>
          <p:cNvPr id="9" name="client-3-pastille"/>
          <p:cNvSpPr/>
          <p:nvPr/>
        </p:nvSpPr>
        <p:spPr>
          <a:xfrm>
            <a:off x="640080" y="3922776"/>
            <a:ext cx="566928" cy="566928"/>
          </a:xfrm>
          <a:prstGeom prst="ellipse">
            <a:avLst/>
          </a:prstGeom>
          <a:solidFill>
            <a:schemeClr val="accent3"/>
          </a:solidFill>
          <a:ln/>
        </p:spPr>
      </p:sp>
      <p:pic>
        <p:nvPicPr>
          <p:cNvPr id="10" name="client-3-icone" descr="preencoded.png">    </p:cNvPr>
          <p:cNvPicPr>
            <a:picLocks noChangeAspect="1"/>
          </p:cNvPicPr>
          <p:nvPr/>
        </p:nvPicPr>
        <p:blipFill>
          <a:blip r:embed="rId3"/>
          <a:stretch>
            <a:fillRect/>
          </a:stretch>
        </p:blipFill>
        <p:spPr>
          <a:xfrm>
            <a:off x="786384" y="4069080"/>
            <a:ext cx="274320" cy="274320"/>
          </a:xfrm>
          <a:prstGeom prst="rect">
            <a:avLst/>
          </a:prstGeom>
        </p:spPr>
      </p:pic>
      <p:sp>
        <p:nvSpPr>
          <p:cNvPr id="11" name="client-3-texte"/>
          <p:cNvSpPr txBox="1"/>
          <p:nvPr/>
        </p:nvSpPr>
        <p:spPr>
          <a:xfrm>
            <a:off x="1417320" y="3886200"/>
            <a:ext cx="580644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Acompte automatique</a:t>
            </a:r>
            <a:endParaRPr lang="en-US" sz="1800" dirty="0"/>
          </a:p>
          <a:p>
            <a:pPr indent="0" marL="0">
              <a:spcAft>
                <a:spcPts val="200"/>
              </a:spcAft>
              <a:buNone/>
            </a:pPr>
            <a:r>
              <a:rPr lang="en-US" sz="1400" dirty="0">
                <a:solidFill>
                  <a:schemeClr val="accent6"/>
                </a:solidFill>
              </a:rPr>
              <a:t>Demandé selon la taille du groupe, contre les no-shows.</a:t>
            </a:r>
            <a:endParaRPr lang="en-US" sz="1800" dirty="0"/>
          </a:p>
        </p:txBody>
      </p:sp>
      <p:sp>
        <p:nvSpPr>
          <p:cNvPr id="12" name="client-4-pastille"/>
          <p:cNvSpPr/>
          <p:nvPr/>
        </p:nvSpPr>
        <p:spPr>
          <a:xfrm>
            <a:off x="640080" y="5038344"/>
            <a:ext cx="566928" cy="566928"/>
          </a:xfrm>
          <a:prstGeom prst="ellipse">
            <a:avLst/>
          </a:prstGeom>
          <a:solidFill>
            <a:schemeClr val="accent3"/>
          </a:solidFill>
          <a:ln/>
        </p:spPr>
      </p:sp>
      <p:pic>
        <p:nvPicPr>
          <p:cNvPr id="13" name="client-4-icone" descr="preencoded.png">    </p:cNvPr>
          <p:cNvPicPr>
            <a:picLocks noChangeAspect="1"/>
          </p:cNvPicPr>
          <p:nvPr/>
        </p:nvPicPr>
        <p:blipFill>
          <a:blip r:embed="rId4"/>
          <a:stretch>
            <a:fillRect/>
          </a:stretch>
        </p:blipFill>
        <p:spPr>
          <a:xfrm>
            <a:off x="786384" y="5184648"/>
            <a:ext cx="274320" cy="274320"/>
          </a:xfrm>
          <a:prstGeom prst="rect">
            <a:avLst/>
          </a:prstGeom>
        </p:spPr>
      </p:pic>
      <p:sp>
        <p:nvSpPr>
          <p:cNvPr id="14" name="client-4-texte"/>
          <p:cNvSpPr txBox="1"/>
          <p:nvPr/>
        </p:nvSpPr>
        <p:spPr>
          <a:xfrm>
            <a:off x="1417320" y="5001768"/>
            <a:ext cx="580644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Autonomie</a:t>
            </a:r>
            <a:endParaRPr lang="en-US" sz="1800" dirty="0"/>
          </a:p>
          <a:p>
            <a:pPr indent="0" marL="0">
              <a:spcAft>
                <a:spcPts val="200"/>
              </a:spcAft>
              <a:buNone/>
            </a:pPr>
            <a:r>
              <a:rPr lang="en-US" sz="1400" dirty="0">
                <a:solidFill>
                  <a:schemeClr val="accent6"/>
                </a:solidFill>
              </a:rPr>
              <a:t>Annulation, modification et liste d’attente sans appeler.</a:t>
            </a:r>
            <a:endParaRPr lang="en-US" sz="1800" dirty="0"/>
          </a:p>
        </p:txBody>
      </p:sp>
      <p:sp>
        <p:nvSpPr>
          <p:cNvPr id="15" name="capture-widget-cadre"/>
          <p:cNvSpPr/>
          <p:nvPr/>
        </p:nvSpPr>
        <p:spPr>
          <a:xfrm>
            <a:off x="8357616" y="1408176"/>
            <a:ext cx="2722179" cy="4864608"/>
          </a:xfrm>
          <a:prstGeom prst="roundRect">
            <a:avLst>
              <a:gd name="adj" fmla="val 4031"/>
            </a:avLst>
          </a:prstGeom>
          <a:solidFill>
            <a:schemeClr val="bg1"/>
          </a:solidFill>
          <a:ln w="12700">
            <a:solidFill>
              <a:srgbClr val="D9DEE7"/>
            </a:solidFill>
            <a:prstDash val="solid"/>
          </a:ln>
          <a:effectLst>
            <a:outerShdw sx="100000" sy="100000" kx="0" ky="0" algn="bl" rotWithShape="0" blurRad="177800" dist="50800" dir="5400000">
              <a:srgbClr val="0D1220">
                <a:alpha val="18000"/>
              </a:srgbClr>
            </a:outerShdw>
          </a:effectLst>
        </p:spPr>
      </p:sp>
      <p:pic>
        <p:nvPicPr>
          <p:cNvPr id="16" name="capture-widget" descr="/tmp/claude-0/-home-user-kao-v2-live/65950b2c-2b2e-51ae-bc2c-910e53a95d51/scratchpad/media/out/deck-widget.png">    </p:cNvPr>
          <p:cNvPicPr>
            <a:picLocks noChangeAspect="1"/>
          </p:cNvPicPr>
          <p:nvPr/>
        </p:nvPicPr>
        <p:blipFill>
          <a:blip r:embed="rId5"/>
          <a:stretch>
            <a:fillRect/>
          </a:stretch>
        </p:blipFill>
        <p:spPr>
          <a:xfrm>
            <a:off x="8412480" y="1463040"/>
            <a:ext cx="2612451" cy="475488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Le restaurant pilote tout son service</a:t>
            </a:r>
            <a:endParaRPr lang="en-US" sz="3400" dirty="0"/>
          </a:p>
        </p:txBody>
      </p:sp>
      <p:sp>
        <p:nvSpPr>
          <p:cNvPr id="3" name="resto-1-pastille"/>
          <p:cNvSpPr/>
          <p:nvPr/>
        </p:nvSpPr>
        <p:spPr>
          <a:xfrm>
            <a:off x="640080" y="1691640"/>
            <a:ext cx="566928" cy="566928"/>
          </a:xfrm>
          <a:prstGeom prst="ellipse">
            <a:avLst/>
          </a:prstGeom>
          <a:solidFill>
            <a:schemeClr val="accent3"/>
          </a:solidFill>
          <a:ln/>
        </p:spPr>
      </p:sp>
      <p:pic>
        <p:nvPicPr>
          <p:cNvPr id="4" name="resto-1-icone" descr="preencoded.png">    </p:cNvPr>
          <p:cNvPicPr>
            <a:picLocks noChangeAspect="1"/>
          </p:cNvPicPr>
          <p:nvPr/>
        </p:nvPicPr>
        <p:blipFill>
          <a:blip r:embed="rId1"/>
          <a:stretch>
            <a:fillRect/>
          </a:stretch>
        </p:blipFill>
        <p:spPr>
          <a:xfrm>
            <a:off x="786384" y="1837944"/>
            <a:ext cx="274320" cy="274320"/>
          </a:xfrm>
          <a:prstGeom prst="rect">
            <a:avLst/>
          </a:prstGeom>
        </p:spPr>
      </p:pic>
      <p:sp>
        <p:nvSpPr>
          <p:cNvPr id="5" name="resto-1-texte"/>
          <p:cNvSpPr txBox="1"/>
          <p:nvPr/>
        </p:nvSpPr>
        <p:spPr>
          <a:xfrm>
            <a:off x="1417320" y="1655064"/>
            <a:ext cx="324612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Service en direct</a:t>
            </a:r>
            <a:endParaRPr lang="en-US" sz="1800" dirty="0"/>
          </a:p>
          <a:p>
            <a:pPr indent="0" marL="0">
              <a:spcAft>
                <a:spcPts val="200"/>
              </a:spcAft>
              <a:buNone/>
            </a:pPr>
            <a:r>
              <a:rPr lang="en-US" sz="1400" dirty="0">
                <a:solidFill>
                  <a:schemeClr val="accent6"/>
                </a:solidFill>
              </a:rPr>
              <a:t>Arrivées, couverts, tables occupées.</a:t>
            </a:r>
            <a:endParaRPr lang="en-US" sz="1800" dirty="0"/>
          </a:p>
        </p:txBody>
      </p:sp>
      <p:sp>
        <p:nvSpPr>
          <p:cNvPr id="6" name="resto-2-pastille"/>
          <p:cNvSpPr/>
          <p:nvPr/>
        </p:nvSpPr>
        <p:spPr>
          <a:xfrm>
            <a:off x="640080" y="2807208"/>
            <a:ext cx="566928" cy="566928"/>
          </a:xfrm>
          <a:prstGeom prst="ellipse">
            <a:avLst/>
          </a:prstGeom>
          <a:solidFill>
            <a:schemeClr val="accent3"/>
          </a:solidFill>
          <a:ln/>
        </p:spPr>
      </p:sp>
      <p:pic>
        <p:nvPicPr>
          <p:cNvPr id="7" name="resto-2-icone" descr="preencoded.png">    </p:cNvPr>
          <p:cNvPicPr>
            <a:picLocks noChangeAspect="1"/>
          </p:cNvPicPr>
          <p:nvPr/>
        </p:nvPicPr>
        <p:blipFill>
          <a:blip r:embed="rId2"/>
          <a:stretch>
            <a:fillRect/>
          </a:stretch>
        </p:blipFill>
        <p:spPr>
          <a:xfrm>
            <a:off x="786384" y="2953512"/>
            <a:ext cx="274320" cy="274320"/>
          </a:xfrm>
          <a:prstGeom prst="rect">
            <a:avLst/>
          </a:prstGeom>
        </p:spPr>
      </p:pic>
      <p:sp>
        <p:nvSpPr>
          <p:cNvPr id="8" name="resto-2-texte"/>
          <p:cNvSpPr txBox="1"/>
          <p:nvPr/>
        </p:nvSpPr>
        <p:spPr>
          <a:xfrm>
            <a:off x="1417320" y="2770632"/>
            <a:ext cx="324612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Plan de salle</a:t>
            </a:r>
            <a:endParaRPr lang="en-US" sz="1800" dirty="0"/>
          </a:p>
          <a:p>
            <a:pPr indent="0" marL="0">
              <a:spcAft>
                <a:spcPts val="200"/>
              </a:spcAft>
              <a:buNone/>
            </a:pPr>
            <a:r>
              <a:rPr lang="en-US" sz="1400" dirty="0">
                <a:solidFill>
                  <a:schemeClr val="accent6"/>
                </a:solidFill>
              </a:rPr>
              <a:t>Tables, zones et combinaisons.</a:t>
            </a:r>
            <a:endParaRPr lang="en-US" sz="1800" dirty="0"/>
          </a:p>
        </p:txBody>
      </p:sp>
      <p:sp>
        <p:nvSpPr>
          <p:cNvPr id="9" name="resto-3-pastille"/>
          <p:cNvSpPr/>
          <p:nvPr/>
        </p:nvSpPr>
        <p:spPr>
          <a:xfrm>
            <a:off x="640080" y="3922776"/>
            <a:ext cx="566928" cy="566928"/>
          </a:xfrm>
          <a:prstGeom prst="ellipse">
            <a:avLst/>
          </a:prstGeom>
          <a:solidFill>
            <a:schemeClr val="accent3"/>
          </a:solidFill>
          <a:ln/>
        </p:spPr>
      </p:sp>
      <p:pic>
        <p:nvPicPr>
          <p:cNvPr id="10" name="resto-3-icone" descr="preencoded.png">    </p:cNvPr>
          <p:cNvPicPr>
            <a:picLocks noChangeAspect="1"/>
          </p:cNvPicPr>
          <p:nvPr/>
        </p:nvPicPr>
        <p:blipFill>
          <a:blip r:embed="rId3"/>
          <a:stretch>
            <a:fillRect/>
          </a:stretch>
        </p:blipFill>
        <p:spPr>
          <a:xfrm>
            <a:off x="786384" y="4069080"/>
            <a:ext cx="274320" cy="274320"/>
          </a:xfrm>
          <a:prstGeom prst="rect">
            <a:avLst/>
          </a:prstGeom>
        </p:spPr>
      </p:pic>
      <p:sp>
        <p:nvSpPr>
          <p:cNvPr id="11" name="resto-3-texte"/>
          <p:cNvSpPr txBox="1"/>
          <p:nvPr/>
        </p:nvSpPr>
        <p:spPr>
          <a:xfrm>
            <a:off x="1417320" y="3886200"/>
            <a:ext cx="324612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Équipe</a:t>
            </a:r>
            <a:endParaRPr lang="en-US" sz="1800" dirty="0"/>
          </a:p>
          <a:p>
            <a:pPr indent="0" marL="0">
              <a:spcAft>
                <a:spcPts val="200"/>
              </a:spcAft>
              <a:buNone/>
            </a:pPr>
            <a:r>
              <a:rPr lang="en-US" sz="1400" dirty="0">
                <a:solidFill>
                  <a:schemeClr val="accent6"/>
                </a:solidFill>
              </a:rPr>
              <a:t>Attribution des serveurs selon la charge.</a:t>
            </a:r>
            <a:endParaRPr lang="en-US" sz="1800" dirty="0"/>
          </a:p>
        </p:txBody>
      </p:sp>
      <p:sp>
        <p:nvSpPr>
          <p:cNvPr id="12" name="resto-4-pastille"/>
          <p:cNvSpPr/>
          <p:nvPr/>
        </p:nvSpPr>
        <p:spPr>
          <a:xfrm>
            <a:off x="640080" y="5038344"/>
            <a:ext cx="566928" cy="566928"/>
          </a:xfrm>
          <a:prstGeom prst="ellipse">
            <a:avLst/>
          </a:prstGeom>
          <a:solidFill>
            <a:schemeClr val="accent3"/>
          </a:solidFill>
          <a:ln/>
        </p:spPr>
      </p:sp>
      <p:pic>
        <p:nvPicPr>
          <p:cNvPr id="13" name="resto-4-icone" descr="preencoded.png">    </p:cNvPr>
          <p:cNvPicPr>
            <a:picLocks noChangeAspect="1"/>
          </p:cNvPicPr>
          <p:nvPr/>
        </p:nvPicPr>
        <p:blipFill>
          <a:blip r:embed="rId4"/>
          <a:stretch>
            <a:fillRect/>
          </a:stretch>
        </p:blipFill>
        <p:spPr>
          <a:xfrm>
            <a:off x="786384" y="5184648"/>
            <a:ext cx="274320" cy="274320"/>
          </a:xfrm>
          <a:prstGeom prst="rect">
            <a:avLst/>
          </a:prstGeom>
        </p:spPr>
      </p:pic>
      <p:sp>
        <p:nvSpPr>
          <p:cNvPr id="14" name="resto-4-texte"/>
          <p:cNvSpPr txBox="1"/>
          <p:nvPr/>
        </p:nvSpPr>
        <p:spPr>
          <a:xfrm>
            <a:off x="1417320" y="5001768"/>
            <a:ext cx="324612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Clients et statistiques</a:t>
            </a:r>
            <a:endParaRPr lang="en-US" sz="1800" dirty="0"/>
          </a:p>
          <a:p>
            <a:pPr indent="0" marL="0">
              <a:spcAft>
                <a:spcPts val="200"/>
              </a:spcAft>
              <a:buNone/>
            </a:pPr>
            <a:r>
              <a:rPr lang="en-US" sz="1400" dirty="0">
                <a:solidFill>
                  <a:schemeClr val="accent6"/>
                </a:solidFill>
              </a:rPr>
              <a:t>Fiches, visites, préférences, no-shows.</a:t>
            </a:r>
            <a:endParaRPr lang="en-US" sz="1800" dirty="0"/>
          </a:p>
        </p:txBody>
      </p:sp>
      <p:sp>
        <p:nvSpPr>
          <p:cNvPr id="15" name="capture-tableau-de-bord-cadre"/>
          <p:cNvSpPr/>
          <p:nvPr/>
        </p:nvSpPr>
        <p:spPr>
          <a:xfrm>
            <a:off x="4928616" y="1545336"/>
            <a:ext cx="6693408" cy="4440969"/>
          </a:xfrm>
          <a:prstGeom prst="roundRect">
            <a:avLst>
              <a:gd name="adj" fmla="val 2471"/>
            </a:avLst>
          </a:prstGeom>
          <a:solidFill>
            <a:schemeClr val="bg1"/>
          </a:solidFill>
          <a:ln w="12700">
            <a:solidFill>
              <a:srgbClr val="D9DEE7"/>
            </a:solidFill>
            <a:prstDash val="solid"/>
          </a:ln>
          <a:effectLst>
            <a:outerShdw sx="100000" sy="100000" kx="0" ky="0" algn="bl" rotWithShape="0" blurRad="177800" dist="50800" dir="5400000">
              <a:srgbClr val="0D1220">
                <a:alpha val="18000"/>
              </a:srgbClr>
            </a:outerShdw>
          </a:effectLst>
        </p:spPr>
      </p:sp>
      <p:pic>
        <p:nvPicPr>
          <p:cNvPr id="16" name="capture-tableau-de-bord" descr="/tmp/claude-0/-home-user-kao-v2-live/65950b2c-2b2e-51ae-bc2c-910e53a95d51/scratchpad/media/out/deck-dashboard.png">    </p:cNvPr>
          <p:cNvPicPr>
            <a:picLocks noChangeAspect="1"/>
          </p:cNvPicPr>
          <p:nvPr/>
        </p:nvPicPr>
        <p:blipFill>
          <a:blip r:embed="rId5"/>
          <a:stretch>
            <a:fillRect/>
          </a:stretch>
        </p:blipFill>
        <p:spPr>
          <a:xfrm>
            <a:off x="4983480" y="1600200"/>
            <a:ext cx="6583680" cy="4331241"/>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Le serveur sait, avant d’arriver à table</a:t>
            </a:r>
            <a:endParaRPr lang="en-US" sz="3400" dirty="0"/>
          </a:p>
        </p:txBody>
      </p:sp>
      <p:sp>
        <p:nvSpPr>
          <p:cNvPr id="3" name="capture-salle-cadre"/>
          <p:cNvSpPr/>
          <p:nvPr/>
        </p:nvSpPr>
        <p:spPr>
          <a:xfrm>
            <a:off x="676656" y="1453896"/>
            <a:ext cx="4258732" cy="4727448"/>
          </a:xfrm>
          <a:prstGeom prst="roundRect">
            <a:avLst>
              <a:gd name="adj" fmla="val 2577"/>
            </a:avLst>
          </a:prstGeom>
          <a:solidFill>
            <a:schemeClr val="bg1"/>
          </a:solidFill>
          <a:ln w="12700">
            <a:solidFill>
              <a:srgbClr val="D9DEE7"/>
            </a:solidFill>
            <a:prstDash val="solid"/>
          </a:ln>
          <a:effectLst>
            <a:outerShdw sx="100000" sy="100000" kx="0" ky="0" algn="bl" rotWithShape="0" blurRad="177800" dist="50800" dir="5400000">
              <a:srgbClr val="0D1220">
                <a:alpha val="18000"/>
              </a:srgbClr>
            </a:outerShdw>
          </a:effectLst>
        </p:spPr>
      </p:sp>
      <p:pic>
        <p:nvPicPr>
          <p:cNvPr id="4" name="capture-salle" descr="/tmp/claude-0/-home-user-kao-v2-live/65950b2c-2b2e-51ae-bc2c-910e53a95d51/scratchpad/media/out/deck-salle.png">    </p:cNvPr>
          <p:cNvPicPr>
            <a:picLocks noChangeAspect="1"/>
          </p:cNvPicPr>
          <p:nvPr/>
        </p:nvPicPr>
        <p:blipFill>
          <a:blip r:embed="rId1"/>
          <a:stretch>
            <a:fillRect/>
          </a:stretch>
        </p:blipFill>
        <p:spPr>
          <a:xfrm>
            <a:off x="731520" y="1508760"/>
            <a:ext cx="4149004" cy="4617720"/>
          </a:xfrm>
          <a:prstGeom prst="rect">
            <a:avLst/>
          </a:prstGeom>
        </p:spPr>
      </p:pic>
      <p:sp>
        <p:nvSpPr>
          <p:cNvPr id="5" name="salle-1-pastille"/>
          <p:cNvSpPr/>
          <p:nvPr/>
        </p:nvSpPr>
        <p:spPr>
          <a:xfrm>
            <a:off x="5943600" y="1828800"/>
            <a:ext cx="566928" cy="566928"/>
          </a:xfrm>
          <a:prstGeom prst="ellipse">
            <a:avLst/>
          </a:prstGeom>
          <a:solidFill>
            <a:schemeClr val="accent3"/>
          </a:solidFill>
          <a:ln/>
        </p:spPr>
      </p:sp>
      <p:pic>
        <p:nvPicPr>
          <p:cNvPr id="6" name="salle-1-icone" descr="preencoded.png">    </p:cNvPr>
          <p:cNvPicPr>
            <a:picLocks noChangeAspect="1"/>
          </p:cNvPicPr>
          <p:nvPr/>
        </p:nvPicPr>
        <p:blipFill>
          <a:blip r:embed="rId2"/>
          <a:stretch>
            <a:fillRect/>
          </a:stretch>
        </p:blipFill>
        <p:spPr>
          <a:xfrm>
            <a:off x="6089904" y="1975104"/>
            <a:ext cx="274320" cy="274320"/>
          </a:xfrm>
          <a:prstGeom prst="rect">
            <a:avLst/>
          </a:prstGeom>
        </p:spPr>
      </p:pic>
      <p:sp>
        <p:nvSpPr>
          <p:cNvPr id="7" name="salle-1-texte"/>
          <p:cNvSpPr txBox="1"/>
          <p:nvPr/>
        </p:nvSpPr>
        <p:spPr>
          <a:xfrm>
            <a:off x="6720840" y="1792224"/>
            <a:ext cx="480060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Ses tables, rien d’autre</a:t>
            </a:r>
            <a:endParaRPr lang="en-US" sz="1800" dirty="0"/>
          </a:p>
          <a:p>
            <a:pPr indent="0" marL="0">
              <a:spcAft>
                <a:spcPts val="200"/>
              </a:spcAft>
              <a:buNone/>
            </a:pPr>
            <a:r>
              <a:rPr lang="en-US" sz="1400" dirty="0">
                <a:solidFill>
                  <a:schemeClr val="accent6"/>
                </a:solidFill>
              </a:rPr>
              <a:t>Une application pensée pour être utilisée debout, d’une main.</a:t>
            </a:r>
            <a:endParaRPr lang="en-US" sz="1800" dirty="0"/>
          </a:p>
        </p:txBody>
      </p:sp>
      <p:sp>
        <p:nvSpPr>
          <p:cNvPr id="8" name="salle-2-pastille"/>
          <p:cNvSpPr/>
          <p:nvPr/>
        </p:nvSpPr>
        <p:spPr>
          <a:xfrm>
            <a:off x="5943600" y="3154680"/>
            <a:ext cx="566928" cy="566928"/>
          </a:xfrm>
          <a:prstGeom prst="ellipse">
            <a:avLst/>
          </a:prstGeom>
          <a:solidFill>
            <a:schemeClr val="accent4"/>
          </a:solidFill>
          <a:ln/>
        </p:spPr>
      </p:sp>
      <p:pic>
        <p:nvPicPr>
          <p:cNvPr id="9" name="salle-2-icone" descr="preencoded.png">    </p:cNvPr>
          <p:cNvPicPr>
            <a:picLocks noChangeAspect="1"/>
          </p:cNvPicPr>
          <p:nvPr/>
        </p:nvPicPr>
        <p:blipFill>
          <a:blip r:embed="rId3"/>
          <a:stretch>
            <a:fillRect/>
          </a:stretch>
        </p:blipFill>
        <p:spPr>
          <a:xfrm>
            <a:off x="6089904" y="3300984"/>
            <a:ext cx="274320" cy="274320"/>
          </a:xfrm>
          <a:prstGeom prst="rect">
            <a:avLst/>
          </a:prstGeom>
        </p:spPr>
      </p:pic>
      <p:sp>
        <p:nvSpPr>
          <p:cNvPr id="10" name="salle-2-texte"/>
          <p:cNvSpPr txBox="1"/>
          <p:nvPr/>
        </p:nvSpPr>
        <p:spPr>
          <a:xfrm>
            <a:off x="6720840" y="3118104"/>
            <a:ext cx="480060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Allergies en rouge</a:t>
            </a:r>
            <a:endParaRPr lang="en-US" sz="1800" dirty="0"/>
          </a:p>
          <a:p>
            <a:pPr indent="0" marL="0">
              <a:spcAft>
                <a:spcPts val="200"/>
              </a:spcAft>
              <a:buNone/>
            </a:pPr>
            <a:r>
              <a:rPr lang="en-US" sz="1400" dirty="0">
                <a:solidFill>
                  <a:schemeClr val="accent6"/>
                </a:solidFill>
              </a:rPr>
              <a:t>Avec leur origine : déclarée en ligne ou confirmée par l’équipe.</a:t>
            </a:r>
            <a:endParaRPr lang="en-US" sz="1800" dirty="0"/>
          </a:p>
        </p:txBody>
      </p:sp>
      <p:sp>
        <p:nvSpPr>
          <p:cNvPr id="11" name="salle-3-pastille"/>
          <p:cNvSpPr/>
          <p:nvPr/>
        </p:nvSpPr>
        <p:spPr>
          <a:xfrm>
            <a:off x="5943600" y="4480560"/>
            <a:ext cx="566928" cy="566928"/>
          </a:xfrm>
          <a:prstGeom prst="ellipse">
            <a:avLst/>
          </a:prstGeom>
          <a:solidFill>
            <a:schemeClr val="accent3"/>
          </a:solidFill>
          <a:ln/>
        </p:spPr>
      </p:sp>
      <p:pic>
        <p:nvPicPr>
          <p:cNvPr id="12" name="salle-3-icone" descr="preencoded.png">    </p:cNvPr>
          <p:cNvPicPr>
            <a:picLocks noChangeAspect="1"/>
          </p:cNvPicPr>
          <p:nvPr/>
        </p:nvPicPr>
        <p:blipFill>
          <a:blip r:embed="rId4"/>
          <a:stretch>
            <a:fillRect/>
          </a:stretch>
        </p:blipFill>
        <p:spPr>
          <a:xfrm>
            <a:off x="6089904" y="4626864"/>
            <a:ext cx="274320" cy="274320"/>
          </a:xfrm>
          <a:prstGeom prst="rect">
            <a:avLst/>
          </a:prstGeom>
        </p:spPr>
      </p:pic>
      <p:sp>
        <p:nvSpPr>
          <p:cNvPr id="13" name="salle-3-texte"/>
          <p:cNvSpPr txBox="1"/>
          <p:nvPr/>
        </p:nvSpPr>
        <p:spPr>
          <a:xfrm>
            <a:off x="6720840" y="4443984"/>
            <a:ext cx="4800600" cy="868680"/>
          </a:xfrm>
          <a:prstGeom prst="rect">
            <a:avLst/>
          </a:prstGeom>
          <a:noFill/>
          <a:ln/>
        </p:spPr>
        <p:txBody>
          <a:bodyPr wrap="square" lIns="0" tIns="0" rIns="0" bIns="0" rtlCol="0" anchor="t"/>
          <a:lstStyle/>
          <a:p>
            <a:pPr indent="0" marL="0">
              <a:spcAft>
                <a:spcPts val="200"/>
              </a:spcAft>
              <a:buNone/>
            </a:pPr>
            <a:r>
              <a:rPr lang="en-US" sz="1800" b="1" dirty="0">
                <a:solidFill>
                  <a:schemeClr val="tx1"/>
                </a:solidFill>
              </a:rPr>
              <a:t>La fiche client</a:t>
            </a:r>
            <a:endParaRPr lang="en-US" sz="1800" dirty="0"/>
          </a:p>
          <a:p>
            <a:pPr indent="0" marL="0">
              <a:spcAft>
                <a:spcPts val="200"/>
              </a:spcAft>
              <a:buNone/>
            </a:pPr>
            <a:r>
              <a:rPr lang="en-US" sz="1400" dirty="0">
                <a:solidFill>
                  <a:schemeClr val="accent6"/>
                </a:solidFill>
              </a:rPr>
              <a:t>Nombre de visites, préférences, occasion.</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Fiable d’abord : ce qu’ORSYNE garantit</a:t>
            </a:r>
            <a:endParaRPr lang="en-US" sz="3400" dirty="0"/>
          </a:p>
        </p:txBody>
      </p:sp>
      <p:sp>
        <p:nvSpPr>
          <p:cNvPr id="3" name="garantie-1-carte"/>
          <p:cNvSpPr/>
          <p:nvPr/>
        </p:nvSpPr>
        <p:spPr>
          <a:xfrm>
            <a:off x="640080" y="1691640"/>
            <a:ext cx="2560320" cy="2834640"/>
          </a:xfrm>
          <a:prstGeom prst="roundRect">
            <a:avLst>
              <a:gd name="adj" fmla="val 5357"/>
            </a:avLst>
          </a:prstGeom>
          <a:solidFill>
            <a:schemeClr val="bg2"/>
          </a:solidFill>
          <a:ln/>
        </p:spPr>
      </p:sp>
      <p:sp>
        <p:nvSpPr>
          <p:cNvPr id="4" name="garantie-1-chiffre"/>
          <p:cNvSpPr txBox="1"/>
          <p:nvPr/>
        </p:nvSpPr>
        <p:spPr>
          <a:xfrm>
            <a:off x="914400" y="1920240"/>
            <a:ext cx="2194560" cy="914400"/>
          </a:xfrm>
          <a:prstGeom prst="rect">
            <a:avLst/>
          </a:prstGeom>
          <a:noFill/>
          <a:ln/>
        </p:spPr>
        <p:txBody>
          <a:bodyPr wrap="square" lIns="0" tIns="0" rIns="0" bIns="0" rtlCol="0" anchor="ctr"/>
          <a:lstStyle/>
          <a:p>
            <a:pPr indent="0" marL="0">
              <a:buNone/>
            </a:pPr>
            <a:r>
              <a:rPr lang="en-US" sz="4800" b="1" dirty="0">
                <a:solidFill>
                  <a:schemeClr val="accent3"/>
                </a:solidFill>
                <a:latin typeface="Calibri" pitchFamily="34" charset="0"/>
                <a:ea typeface="Calibri" pitchFamily="34" charset="-122"/>
                <a:cs typeface="Calibri" pitchFamily="34" charset="-120"/>
              </a:rPr>
              <a:t>0</a:t>
            </a:r>
            <a:endParaRPr lang="en-US" sz="4800" dirty="0"/>
          </a:p>
        </p:txBody>
      </p:sp>
      <p:sp>
        <p:nvSpPr>
          <p:cNvPr id="5" name="garantie-1-libelle"/>
          <p:cNvSpPr txBox="1"/>
          <p:nvPr/>
        </p:nvSpPr>
        <p:spPr>
          <a:xfrm>
            <a:off x="914400" y="2880360"/>
            <a:ext cx="2103120" cy="640080"/>
          </a:xfrm>
          <a:prstGeom prst="rect">
            <a:avLst/>
          </a:prstGeom>
          <a:noFill/>
          <a:ln/>
        </p:spPr>
        <p:txBody>
          <a:bodyPr wrap="square" lIns="0" tIns="0" rIns="0" bIns="0" rtlCol="0" anchor="t"/>
          <a:lstStyle/>
          <a:p>
            <a:pPr indent="0" marL="0">
              <a:buNone/>
            </a:pPr>
            <a:r>
              <a:rPr lang="en-US" sz="1800" b="1" dirty="0">
                <a:solidFill>
                  <a:schemeClr val="tx1"/>
                </a:solidFill>
              </a:rPr>
              <a:t>double réservation</a:t>
            </a:r>
            <a:endParaRPr lang="en-US" sz="1800" dirty="0"/>
          </a:p>
        </p:txBody>
      </p:sp>
      <p:sp>
        <p:nvSpPr>
          <p:cNvPr id="6" name="garantie-1-detail"/>
          <p:cNvSpPr txBox="1"/>
          <p:nvPr/>
        </p:nvSpPr>
        <p:spPr>
          <a:xfrm>
            <a:off x="914400" y="3566160"/>
            <a:ext cx="2103120" cy="822960"/>
          </a:xfrm>
          <a:prstGeom prst="rect">
            <a:avLst/>
          </a:prstGeom>
          <a:noFill/>
          <a:ln/>
        </p:spPr>
        <p:txBody>
          <a:bodyPr wrap="square" lIns="0" tIns="0" rIns="0" bIns="0" rtlCol="0" anchor="t"/>
          <a:lstStyle/>
          <a:p>
            <a:pPr indent="0" marL="0">
              <a:buNone/>
            </a:pPr>
            <a:r>
              <a:rPr lang="en-US" sz="1400" dirty="0">
                <a:solidFill>
                  <a:schemeClr val="accent6"/>
                </a:solidFill>
              </a:rPr>
              <a:t>interdite par la base de données elle-même</a:t>
            </a:r>
            <a:endParaRPr lang="en-US" sz="1400" dirty="0"/>
          </a:p>
        </p:txBody>
      </p:sp>
      <p:sp>
        <p:nvSpPr>
          <p:cNvPr id="7" name="garantie-2-carte"/>
          <p:cNvSpPr/>
          <p:nvPr/>
        </p:nvSpPr>
        <p:spPr>
          <a:xfrm>
            <a:off x="3429000" y="1691640"/>
            <a:ext cx="2560320" cy="2834640"/>
          </a:xfrm>
          <a:prstGeom prst="roundRect">
            <a:avLst>
              <a:gd name="adj" fmla="val 5357"/>
            </a:avLst>
          </a:prstGeom>
          <a:solidFill>
            <a:schemeClr val="bg2"/>
          </a:solidFill>
          <a:ln/>
        </p:spPr>
      </p:sp>
      <p:sp>
        <p:nvSpPr>
          <p:cNvPr id="8" name="garantie-2-chiffre"/>
          <p:cNvSpPr txBox="1"/>
          <p:nvPr/>
        </p:nvSpPr>
        <p:spPr>
          <a:xfrm>
            <a:off x="3703320" y="1920240"/>
            <a:ext cx="2194560" cy="914400"/>
          </a:xfrm>
          <a:prstGeom prst="rect">
            <a:avLst/>
          </a:prstGeom>
          <a:noFill/>
          <a:ln/>
        </p:spPr>
        <p:txBody>
          <a:bodyPr wrap="square" lIns="0" tIns="0" rIns="0" bIns="0" rtlCol="0" anchor="ctr"/>
          <a:lstStyle/>
          <a:p>
            <a:pPr indent="0" marL="0">
              <a:buNone/>
            </a:pPr>
            <a:r>
              <a:rPr lang="en-US" sz="4800" b="1" dirty="0">
                <a:solidFill>
                  <a:schemeClr val="accent3"/>
                </a:solidFill>
                <a:latin typeface="Calibri" pitchFamily="34" charset="0"/>
                <a:ea typeface="Calibri" pitchFamily="34" charset="-122"/>
                <a:cs typeface="Calibri" pitchFamily="34" charset="-120"/>
              </a:rPr>
              <a:t>130</a:t>
            </a:r>
            <a:endParaRPr lang="en-US" sz="4800" dirty="0"/>
          </a:p>
        </p:txBody>
      </p:sp>
      <p:sp>
        <p:nvSpPr>
          <p:cNvPr id="9" name="garantie-2-libelle"/>
          <p:cNvSpPr txBox="1"/>
          <p:nvPr/>
        </p:nvSpPr>
        <p:spPr>
          <a:xfrm>
            <a:off x="3703320" y="2880360"/>
            <a:ext cx="2103120" cy="640080"/>
          </a:xfrm>
          <a:prstGeom prst="rect">
            <a:avLst/>
          </a:prstGeom>
          <a:noFill/>
          <a:ln/>
        </p:spPr>
        <p:txBody>
          <a:bodyPr wrap="square" lIns="0" tIns="0" rIns="0" bIns="0" rtlCol="0" anchor="t"/>
          <a:lstStyle/>
          <a:p>
            <a:pPr indent="0" marL="0">
              <a:buNone/>
            </a:pPr>
            <a:r>
              <a:rPr lang="en-US" sz="1800" b="1" dirty="0">
                <a:solidFill>
                  <a:schemeClr val="tx1"/>
                </a:solidFill>
              </a:rPr>
              <a:t>tests automatisés</a:t>
            </a:r>
            <a:endParaRPr lang="en-US" sz="1800" dirty="0"/>
          </a:p>
        </p:txBody>
      </p:sp>
      <p:sp>
        <p:nvSpPr>
          <p:cNvPr id="10" name="garantie-2-detail"/>
          <p:cNvSpPr txBox="1"/>
          <p:nvPr/>
        </p:nvSpPr>
        <p:spPr>
          <a:xfrm>
            <a:off x="3703320" y="3566160"/>
            <a:ext cx="2103120" cy="822960"/>
          </a:xfrm>
          <a:prstGeom prst="rect">
            <a:avLst/>
          </a:prstGeom>
          <a:noFill/>
          <a:ln/>
        </p:spPr>
        <p:txBody>
          <a:bodyPr wrap="square" lIns="0" tIns="0" rIns="0" bIns="0" rtlCol="0" anchor="t"/>
          <a:lstStyle/>
          <a:p>
            <a:pPr indent="0" marL="0">
              <a:buNone/>
            </a:pPr>
            <a:r>
              <a:rPr lang="en-US" sz="1400" dirty="0">
                <a:solidFill>
                  <a:schemeClr val="accent6"/>
                </a:solidFill>
              </a:rPr>
              <a:t>rejoués à chaque évolution du produit</a:t>
            </a:r>
            <a:endParaRPr lang="en-US" sz="1400" dirty="0"/>
          </a:p>
        </p:txBody>
      </p:sp>
      <p:sp>
        <p:nvSpPr>
          <p:cNvPr id="11" name="garantie-3-carte"/>
          <p:cNvSpPr/>
          <p:nvPr/>
        </p:nvSpPr>
        <p:spPr>
          <a:xfrm>
            <a:off x="6217920" y="1691640"/>
            <a:ext cx="2560320" cy="2834640"/>
          </a:xfrm>
          <a:prstGeom prst="roundRect">
            <a:avLst>
              <a:gd name="adj" fmla="val 5357"/>
            </a:avLst>
          </a:prstGeom>
          <a:solidFill>
            <a:schemeClr val="bg2"/>
          </a:solidFill>
          <a:ln/>
        </p:spPr>
      </p:sp>
      <p:sp>
        <p:nvSpPr>
          <p:cNvPr id="12" name="garantie-3-chiffre"/>
          <p:cNvSpPr txBox="1"/>
          <p:nvPr/>
        </p:nvSpPr>
        <p:spPr>
          <a:xfrm>
            <a:off x="6492240" y="1920240"/>
            <a:ext cx="2194560" cy="914400"/>
          </a:xfrm>
          <a:prstGeom prst="rect">
            <a:avLst/>
          </a:prstGeom>
          <a:noFill/>
          <a:ln/>
        </p:spPr>
        <p:txBody>
          <a:bodyPr wrap="square" lIns="0" tIns="0" rIns="0" bIns="0" rtlCol="0" anchor="ctr"/>
          <a:lstStyle/>
          <a:p>
            <a:pPr indent="0" marL="0">
              <a:buNone/>
            </a:pPr>
            <a:r>
              <a:rPr lang="en-US" sz="4800" b="1" dirty="0">
                <a:solidFill>
                  <a:schemeClr val="accent3"/>
                </a:solidFill>
                <a:latin typeface="Calibri" pitchFamily="34" charset="0"/>
                <a:ea typeface="Calibri" pitchFamily="34" charset="-122"/>
                <a:cs typeface="Calibri" pitchFamily="34" charset="-120"/>
              </a:rPr>
              <a:t>5</a:t>
            </a:r>
            <a:endParaRPr lang="en-US" sz="4800" dirty="0"/>
          </a:p>
        </p:txBody>
      </p:sp>
      <p:sp>
        <p:nvSpPr>
          <p:cNvPr id="13" name="garantie-3-libelle"/>
          <p:cNvSpPr txBox="1"/>
          <p:nvPr/>
        </p:nvSpPr>
        <p:spPr>
          <a:xfrm>
            <a:off x="6492240" y="2880360"/>
            <a:ext cx="2103120" cy="640080"/>
          </a:xfrm>
          <a:prstGeom prst="rect">
            <a:avLst/>
          </a:prstGeom>
          <a:noFill/>
          <a:ln/>
        </p:spPr>
        <p:txBody>
          <a:bodyPr wrap="square" lIns="0" tIns="0" rIns="0" bIns="0" rtlCol="0" anchor="t"/>
          <a:lstStyle/>
          <a:p>
            <a:pPr indent="0" marL="0">
              <a:buNone/>
            </a:pPr>
            <a:r>
              <a:rPr lang="en-US" sz="1800" b="1" dirty="0">
                <a:solidFill>
                  <a:schemeClr val="tx1"/>
                </a:solidFill>
              </a:rPr>
              <a:t>rôles d’accès</a:t>
            </a:r>
            <a:endParaRPr lang="en-US" sz="1800" dirty="0"/>
          </a:p>
        </p:txBody>
      </p:sp>
      <p:sp>
        <p:nvSpPr>
          <p:cNvPr id="14" name="garantie-3-detail"/>
          <p:cNvSpPr txBox="1"/>
          <p:nvPr/>
        </p:nvSpPr>
        <p:spPr>
          <a:xfrm>
            <a:off x="6492240" y="3566160"/>
            <a:ext cx="2103120" cy="822960"/>
          </a:xfrm>
          <a:prstGeom prst="rect">
            <a:avLst/>
          </a:prstGeom>
          <a:noFill/>
          <a:ln/>
        </p:spPr>
        <p:txBody>
          <a:bodyPr wrap="square" lIns="0" tIns="0" rIns="0" bIns="0" rtlCol="0" anchor="t"/>
          <a:lstStyle/>
          <a:p>
            <a:pPr indent="0" marL="0">
              <a:buNone/>
            </a:pPr>
            <a:r>
              <a:rPr lang="en-US" sz="1400" dirty="0">
                <a:solidFill>
                  <a:schemeClr val="accent6"/>
                </a:solidFill>
              </a:rPr>
              <a:t>de la cuisine au propriétaire</a:t>
            </a:r>
            <a:endParaRPr lang="en-US" sz="1400" dirty="0"/>
          </a:p>
        </p:txBody>
      </p:sp>
      <p:sp>
        <p:nvSpPr>
          <p:cNvPr id="15" name="garantie-4-carte"/>
          <p:cNvSpPr/>
          <p:nvPr/>
        </p:nvSpPr>
        <p:spPr>
          <a:xfrm>
            <a:off x="9006840" y="1691640"/>
            <a:ext cx="2560320" cy="2834640"/>
          </a:xfrm>
          <a:prstGeom prst="roundRect">
            <a:avLst>
              <a:gd name="adj" fmla="val 5357"/>
            </a:avLst>
          </a:prstGeom>
          <a:solidFill>
            <a:schemeClr val="bg2"/>
          </a:solidFill>
          <a:ln/>
        </p:spPr>
      </p:sp>
      <p:sp>
        <p:nvSpPr>
          <p:cNvPr id="16" name="garantie-4-chiffre"/>
          <p:cNvSpPr txBox="1"/>
          <p:nvPr/>
        </p:nvSpPr>
        <p:spPr>
          <a:xfrm>
            <a:off x="9281160" y="1920240"/>
            <a:ext cx="2194560" cy="914400"/>
          </a:xfrm>
          <a:prstGeom prst="rect">
            <a:avLst/>
          </a:prstGeom>
          <a:noFill/>
          <a:ln/>
        </p:spPr>
        <p:txBody>
          <a:bodyPr wrap="square" lIns="0" tIns="0" rIns="0" bIns="0" rtlCol="0" anchor="ctr"/>
          <a:lstStyle/>
          <a:p>
            <a:pPr indent="0" marL="0">
              <a:buNone/>
            </a:pPr>
            <a:r>
              <a:rPr lang="en-US" sz="4800" b="1" dirty="0">
                <a:solidFill>
                  <a:schemeClr val="accent3"/>
                </a:solidFill>
                <a:latin typeface="Calibri" pitchFamily="34" charset="0"/>
                <a:ea typeface="Calibri" pitchFamily="34" charset="-122"/>
                <a:cs typeface="Calibri" pitchFamily="34" charset="-120"/>
              </a:rPr>
              <a:t>100 %</a:t>
            </a:r>
            <a:endParaRPr lang="en-US" sz="4800" dirty="0"/>
          </a:p>
        </p:txBody>
      </p:sp>
      <p:sp>
        <p:nvSpPr>
          <p:cNvPr id="17" name="garantie-4-libelle"/>
          <p:cNvSpPr txBox="1"/>
          <p:nvPr/>
        </p:nvSpPr>
        <p:spPr>
          <a:xfrm>
            <a:off x="9281160" y="2880360"/>
            <a:ext cx="2103120" cy="640080"/>
          </a:xfrm>
          <a:prstGeom prst="rect">
            <a:avLst/>
          </a:prstGeom>
          <a:noFill/>
          <a:ln/>
        </p:spPr>
        <p:txBody>
          <a:bodyPr wrap="square" lIns="0" tIns="0" rIns="0" bIns="0" rtlCol="0" anchor="t"/>
          <a:lstStyle/>
          <a:p>
            <a:pPr indent="0" marL="0">
              <a:buNone/>
            </a:pPr>
            <a:r>
              <a:rPr lang="en-US" sz="1800" b="1" dirty="0">
                <a:solidFill>
                  <a:schemeClr val="tx1"/>
                </a:solidFill>
              </a:rPr>
              <a:t>cloisonné</a:t>
            </a:r>
            <a:endParaRPr lang="en-US" sz="1800" dirty="0"/>
          </a:p>
        </p:txBody>
      </p:sp>
      <p:sp>
        <p:nvSpPr>
          <p:cNvPr id="18" name="garantie-4-detail"/>
          <p:cNvSpPr txBox="1"/>
          <p:nvPr/>
        </p:nvSpPr>
        <p:spPr>
          <a:xfrm>
            <a:off x="9281160" y="3566160"/>
            <a:ext cx="2103120" cy="822960"/>
          </a:xfrm>
          <a:prstGeom prst="rect">
            <a:avLst/>
          </a:prstGeom>
          <a:noFill/>
          <a:ln/>
        </p:spPr>
        <p:txBody>
          <a:bodyPr wrap="square" lIns="0" tIns="0" rIns="0" bIns="0" rtlCol="0" anchor="t"/>
          <a:lstStyle/>
          <a:p>
            <a:pPr indent="0" marL="0">
              <a:buNone/>
            </a:pPr>
            <a:r>
              <a:rPr lang="en-US" sz="1400" dirty="0">
                <a:solidFill>
                  <a:schemeClr val="accent6"/>
                </a:solidFill>
              </a:rPr>
              <a:t>chaque restaurant isolé des autres</a:t>
            </a:r>
            <a:endParaRPr lang="en-US" sz="1400" dirty="0"/>
          </a:p>
        </p:txBody>
      </p:sp>
      <p:sp>
        <p:nvSpPr>
          <p:cNvPr id="19" name="preuve-carte"/>
          <p:cNvSpPr/>
          <p:nvPr/>
        </p:nvSpPr>
        <p:spPr>
          <a:xfrm>
            <a:off x="640080" y="4846320"/>
            <a:ext cx="10927080" cy="1051560"/>
          </a:xfrm>
          <a:prstGeom prst="roundRect">
            <a:avLst>
              <a:gd name="adj" fmla="val 13043"/>
            </a:avLst>
          </a:prstGeom>
          <a:solidFill>
            <a:schemeClr val="tx1"/>
          </a:solidFill>
          <a:ln/>
        </p:spPr>
      </p:sp>
      <p:sp>
        <p:nvSpPr>
          <p:cNvPr id="20" name="preuve-texte"/>
          <p:cNvSpPr txBox="1"/>
          <p:nvPr/>
        </p:nvSpPr>
        <p:spPr>
          <a:xfrm>
            <a:off x="960120" y="4846320"/>
            <a:ext cx="10332720" cy="1051560"/>
          </a:xfrm>
          <a:prstGeom prst="rect">
            <a:avLst/>
          </a:prstGeom>
          <a:noFill/>
          <a:ln/>
        </p:spPr>
        <p:txBody>
          <a:bodyPr wrap="square" lIns="0" tIns="0" rIns="0" bIns="0" rtlCol="0" anchor="ctr"/>
          <a:lstStyle/>
          <a:p>
            <a:pPr indent="0" marL="0">
              <a:buNone/>
            </a:pPr>
            <a:r>
              <a:rPr lang="en-US" sz="1800" b="1" dirty="0">
                <a:solidFill>
                  <a:schemeClr val="accent2"/>
                </a:solidFill>
              </a:rPr>
              <a:t>Testé en conditions réelles : </a:t>
            </a:r>
            <a:pPr indent="0" marL="0">
              <a:buNone/>
            </a:pPr>
            <a:r>
              <a:rPr lang="en-US" sz="1800" dirty="0">
                <a:solidFill>
                  <a:schemeClr val="bg1"/>
                </a:solidFill>
              </a:rPr>
              <a:t>12 demandes simultanées sur la même table → 1 acceptée, 11 refusées.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ORSYNE orchestre autour de la caisse</a:t>
            </a:r>
            <a:endParaRPr lang="en-US" sz="3400" dirty="0"/>
          </a:p>
        </p:txBody>
      </p:sp>
      <p:sp>
        <p:nvSpPr>
          <p:cNvPr id="3" name="caisse-carte"/>
          <p:cNvSpPr/>
          <p:nvPr/>
        </p:nvSpPr>
        <p:spPr>
          <a:xfrm>
            <a:off x="640080" y="1737360"/>
            <a:ext cx="4663440" cy="2377440"/>
          </a:xfrm>
          <a:prstGeom prst="roundRect">
            <a:avLst>
              <a:gd name="adj" fmla="val 5769"/>
            </a:avLst>
          </a:prstGeom>
          <a:solidFill>
            <a:schemeClr val="bg2"/>
          </a:solidFill>
          <a:ln/>
        </p:spPr>
      </p:sp>
      <p:pic>
        <p:nvPicPr>
          <p:cNvPr id="4" name="caisse-icone" descr="preencoded.png">    </p:cNvPr>
          <p:cNvPicPr>
            <a:picLocks noChangeAspect="1"/>
          </p:cNvPicPr>
          <p:nvPr/>
        </p:nvPicPr>
        <p:blipFill>
          <a:blip r:embed="rId1"/>
          <a:stretch>
            <a:fillRect/>
          </a:stretch>
        </p:blipFill>
        <p:spPr>
          <a:xfrm>
            <a:off x="960120" y="2057400"/>
            <a:ext cx="502920" cy="502920"/>
          </a:xfrm>
          <a:prstGeom prst="rect">
            <a:avLst/>
          </a:prstGeom>
        </p:spPr>
      </p:pic>
      <p:sp>
        <p:nvSpPr>
          <p:cNvPr id="5" name="caisse-texte"/>
          <p:cNvSpPr txBox="1"/>
          <p:nvPr/>
        </p:nvSpPr>
        <p:spPr>
          <a:xfrm>
            <a:off x="960120" y="2743200"/>
            <a:ext cx="4023360" cy="1188720"/>
          </a:xfrm>
          <a:prstGeom prst="rect">
            <a:avLst/>
          </a:prstGeom>
          <a:noFill/>
          <a:ln/>
        </p:spPr>
        <p:txBody>
          <a:bodyPr wrap="square" lIns="0" tIns="0" rIns="0" bIns="0" rtlCol="0" anchor="t"/>
          <a:lstStyle/>
          <a:p>
            <a:pPr indent="0" marL="0">
              <a:buNone/>
            </a:pPr>
            <a:r>
              <a:rPr lang="en-US" sz="2200" b="1" dirty="0">
                <a:solidFill>
                  <a:schemeClr val="tx1"/>
                </a:solidFill>
              </a:rPr>
              <a:t>Votre caisse</a:t>
            </a:r>
            <a:endParaRPr lang="en-US" sz="2200" dirty="0"/>
          </a:p>
          <a:p>
            <a:pPr indent="0" marL="0">
              <a:buNone/>
            </a:pPr>
            <a:r>
              <a:rPr lang="en-US" sz="1500" dirty="0">
                <a:solidFill>
                  <a:schemeClr val="accent6"/>
                </a:solidFill>
              </a:rPr>
              <a:t>Encaissement, fiscalité, comptabilité. Elle reste la référence.</a:t>
            </a:r>
            <a:endParaRPr lang="en-US" sz="2200" dirty="0"/>
          </a:p>
        </p:txBody>
      </p:sp>
      <p:pic>
        <p:nvPicPr>
          <p:cNvPr id="6" name="fleche" descr="preencoded.png">    </p:cNvPr>
          <p:cNvPicPr>
            <a:picLocks noChangeAspect="1"/>
          </p:cNvPicPr>
          <p:nvPr/>
        </p:nvPicPr>
        <p:blipFill>
          <a:blip r:embed="rId2"/>
          <a:stretch>
            <a:fillRect/>
          </a:stretch>
        </p:blipFill>
        <p:spPr>
          <a:xfrm>
            <a:off x="5532120" y="2697480"/>
            <a:ext cx="457200" cy="457200"/>
          </a:xfrm>
          <a:prstGeom prst="rect">
            <a:avLst/>
          </a:prstGeom>
        </p:spPr>
      </p:pic>
      <p:sp>
        <p:nvSpPr>
          <p:cNvPr id="7" name="orsyne-carte"/>
          <p:cNvSpPr/>
          <p:nvPr/>
        </p:nvSpPr>
        <p:spPr>
          <a:xfrm>
            <a:off x="6217920" y="1737360"/>
            <a:ext cx="5349240" cy="2377440"/>
          </a:xfrm>
          <a:prstGeom prst="roundRect">
            <a:avLst>
              <a:gd name="adj" fmla="val 5769"/>
            </a:avLst>
          </a:prstGeom>
          <a:solidFill>
            <a:schemeClr val="accent3"/>
          </a:solidFill>
          <a:ln/>
        </p:spPr>
      </p:sp>
      <p:pic>
        <p:nvPicPr>
          <p:cNvPr id="8" name="orsyne-icone" descr="preencoded.png">    </p:cNvPr>
          <p:cNvPicPr>
            <a:picLocks noChangeAspect="1"/>
          </p:cNvPicPr>
          <p:nvPr/>
        </p:nvPicPr>
        <p:blipFill>
          <a:blip r:embed="rId3"/>
          <a:stretch>
            <a:fillRect/>
          </a:stretch>
        </p:blipFill>
        <p:spPr>
          <a:xfrm>
            <a:off x="6537960" y="2057400"/>
            <a:ext cx="502920" cy="502920"/>
          </a:xfrm>
          <a:prstGeom prst="rect">
            <a:avLst/>
          </a:prstGeom>
        </p:spPr>
      </p:pic>
      <p:sp>
        <p:nvSpPr>
          <p:cNvPr id="9" name="orsyne-texte"/>
          <p:cNvSpPr txBox="1"/>
          <p:nvPr/>
        </p:nvSpPr>
        <p:spPr>
          <a:xfrm>
            <a:off x="6537960" y="2743200"/>
            <a:ext cx="4754880" cy="1188720"/>
          </a:xfrm>
          <a:prstGeom prst="rect">
            <a:avLst/>
          </a:prstGeom>
          <a:noFill/>
          <a:ln/>
        </p:spPr>
        <p:txBody>
          <a:bodyPr wrap="square" lIns="0" tIns="0" rIns="0" bIns="0" rtlCol="0" anchor="t"/>
          <a:lstStyle/>
          <a:p>
            <a:pPr indent="0" marL="0">
              <a:buNone/>
            </a:pPr>
            <a:r>
              <a:rPr lang="en-US" sz="2200" b="1" dirty="0">
                <a:solidFill>
                  <a:schemeClr val="bg1"/>
                </a:solidFill>
              </a:rPr>
              <a:t>ORSYNE</a:t>
            </a:r>
            <a:endParaRPr lang="en-US" sz="2200" dirty="0"/>
          </a:p>
          <a:p>
            <a:pPr indent="0" marL="0">
              <a:buNone/>
            </a:pPr>
            <a:r>
              <a:rPr lang="en-US" sz="1500" dirty="0">
                <a:solidFill>
                  <a:srgbClr val="DCE3F5"/>
                </a:solidFill>
              </a:rPr>
              <a:t>Réservations, plan de salle, équipes, clients, acomptes et messages.</a:t>
            </a:r>
            <a:endParaRPr lang="en-US" sz="2200" dirty="0"/>
          </a:p>
        </p:txBody>
      </p:sp>
      <p:sp>
        <p:nvSpPr>
          <p:cNvPr id="10" name="partenaire-1-carte"/>
          <p:cNvSpPr/>
          <p:nvPr/>
        </p:nvSpPr>
        <p:spPr>
          <a:xfrm>
            <a:off x="640080" y="4526280"/>
            <a:ext cx="3429000" cy="1325880"/>
          </a:xfrm>
          <a:prstGeom prst="roundRect">
            <a:avLst>
              <a:gd name="adj" fmla="val 8276"/>
            </a:avLst>
          </a:prstGeom>
          <a:solidFill>
            <a:schemeClr val="bg1"/>
          </a:solidFill>
          <a:ln w="12700">
            <a:solidFill>
              <a:srgbClr val="D9DEE7"/>
            </a:solidFill>
            <a:prstDash val="solid"/>
          </a:ln>
        </p:spPr>
      </p:sp>
      <p:sp>
        <p:nvSpPr>
          <p:cNvPr id="11" name="partenaire-1-texte"/>
          <p:cNvSpPr txBox="1"/>
          <p:nvPr/>
        </p:nvSpPr>
        <p:spPr>
          <a:xfrm>
            <a:off x="914400" y="4663440"/>
            <a:ext cx="2926080" cy="1051560"/>
          </a:xfrm>
          <a:prstGeom prst="rect">
            <a:avLst/>
          </a:prstGeom>
          <a:noFill/>
          <a:ln/>
        </p:spPr>
        <p:txBody>
          <a:bodyPr wrap="square" lIns="0" tIns="0" rIns="0" bIns="0" rtlCol="0" anchor="t"/>
          <a:lstStyle/>
          <a:p>
            <a:pPr indent="0" marL="0">
              <a:buNone/>
            </a:pPr>
            <a:r>
              <a:rPr lang="en-US" sz="1700" b="1" dirty="0">
                <a:solidFill>
                  <a:schemeClr val="tx1"/>
                </a:solidFill>
              </a:rPr>
              <a:t>Stripe</a:t>
            </a:r>
            <a:endParaRPr lang="en-US" sz="1700" dirty="0"/>
          </a:p>
          <a:p>
            <a:pPr indent="0" marL="0">
              <a:buNone/>
            </a:pPr>
            <a:r>
              <a:rPr lang="en-US" sz="1400" dirty="0">
                <a:solidFill>
                  <a:schemeClr val="accent6"/>
                </a:solidFill>
              </a:rPr>
              <a:t>acomptes, empreintes bancaires, remboursements</a:t>
            </a:r>
            <a:endParaRPr lang="en-US" sz="1700" dirty="0"/>
          </a:p>
        </p:txBody>
      </p:sp>
      <p:sp>
        <p:nvSpPr>
          <p:cNvPr id="12" name="partenaire-2-carte"/>
          <p:cNvSpPr/>
          <p:nvPr/>
        </p:nvSpPr>
        <p:spPr>
          <a:xfrm>
            <a:off x="4343400" y="4526280"/>
            <a:ext cx="3429000" cy="1325880"/>
          </a:xfrm>
          <a:prstGeom prst="roundRect">
            <a:avLst>
              <a:gd name="adj" fmla="val 8276"/>
            </a:avLst>
          </a:prstGeom>
          <a:solidFill>
            <a:schemeClr val="bg1"/>
          </a:solidFill>
          <a:ln w="12700">
            <a:solidFill>
              <a:srgbClr val="D9DEE7"/>
            </a:solidFill>
            <a:prstDash val="solid"/>
          </a:ln>
        </p:spPr>
      </p:sp>
      <p:sp>
        <p:nvSpPr>
          <p:cNvPr id="13" name="partenaire-2-texte"/>
          <p:cNvSpPr txBox="1"/>
          <p:nvPr/>
        </p:nvSpPr>
        <p:spPr>
          <a:xfrm>
            <a:off x="4617720" y="4663440"/>
            <a:ext cx="2926080" cy="1051560"/>
          </a:xfrm>
          <a:prstGeom prst="rect">
            <a:avLst/>
          </a:prstGeom>
          <a:noFill/>
          <a:ln/>
        </p:spPr>
        <p:txBody>
          <a:bodyPr wrap="square" lIns="0" tIns="0" rIns="0" bIns="0" rtlCol="0" anchor="t"/>
          <a:lstStyle/>
          <a:p>
            <a:pPr indent="0" marL="0">
              <a:buNone/>
            </a:pPr>
            <a:r>
              <a:rPr lang="en-US" sz="1700" b="1" dirty="0">
                <a:solidFill>
                  <a:schemeClr val="tx1"/>
                </a:solidFill>
              </a:rPr>
              <a:t>Resend · Postmark</a:t>
            </a:r>
            <a:endParaRPr lang="en-US" sz="1700" dirty="0"/>
          </a:p>
          <a:p>
            <a:pPr indent="0" marL="0">
              <a:buNone/>
            </a:pPr>
            <a:r>
              <a:rPr lang="en-US" sz="1400" dirty="0">
                <a:solidFill>
                  <a:schemeClr val="accent6"/>
                </a:solidFill>
              </a:rPr>
              <a:t>emails de confirmation et de rappel</a:t>
            </a:r>
            <a:endParaRPr lang="en-US" sz="1700" dirty="0"/>
          </a:p>
        </p:txBody>
      </p:sp>
      <p:sp>
        <p:nvSpPr>
          <p:cNvPr id="14" name="partenaire-3-carte"/>
          <p:cNvSpPr/>
          <p:nvPr/>
        </p:nvSpPr>
        <p:spPr>
          <a:xfrm>
            <a:off x="8046720" y="4526280"/>
            <a:ext cx="3429000" cy="1325880"/>
          </a:xfrm>
          <a:prstGeom prst="roundRect">
            <a:avLst>
              <a:gd name="adj" fmla="val 8276"/>
            </a:avLst>
          </a:prstGeom>
          <a:solidFill>
            <a:schemeClr val="bg1"/>
          </a:solidFill>
          <a:ln w="12700">
            <a:solidFill>
              <a:srgbClr val="D9DEE7"/>
            </a:solidFill>
            <a:prstDash val="solid"/>
          </a:ln>
        </p:spPr>
      </p:sp>
      <p:sp>
        <p:nvSpPr>
          <p:cNvPr id="15" name="partenaire-3-texte"/>
          <p:cNvSpPr txBox="1"/>
          <p:nvPr/>
        </p:nvSpPr>
        <p:spPr>
          <a:xfrm>
            <a:off x="8321040" y="4663440"/>
            <a:ext cx="2926080" cy="1051560"/>
          </a:xfrm>
          <a:prstGeom prst="rect">
            <a:avLst/>
          </a:prstGeom>
          <a:noFill/>
          <a:ln/>
        </p:spPr>
        <p:txBody>
          <a:bodyPr wrap="square" lIns="0" tIns="0" rIns="0" bIns="0" rtlCol="0" anchor="t"/>
          <a:lstStyle/>
          <a:p>
            <a:pPr indent="0" marL="0">
              <a:buNone/>
            </a:pPr>
            <a:r>
              <a:rPr lang="en-US" sz="1700" b="1" dirty="0">
                <a:solidFill>
                  <a:schemeClr val="tx1"/>
                </a:solidFill>
              </a:rPr>
              <a:t>Twilio</a:t>
            </a:r>
            <a:endParaRPr lang="en-US" sz="1700" dirty="0"/>
          </a:p>
          <a:p>
            <a:pPr indent="0" marL="0">
              <a:buNone/>
            </a:pPr>
            <a:r>
              <a:rPr lang="en-US" sz="1400" dirty="0">
                <a:solidFill>
                  <a:schemeClr val="accent6"/>
                </a:solidFill>
              </a:rPr>
              <a:t>SMS et WhatsApp, dans la langue du client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ctr"/>
          <a:lstStyle/>
          <a:p>
            <a:pPr algn="l" indent="0" marL="0">
              <a:buNone/>
            </a:pPr>
            <a:r>
              <a:rPr lang="en-US" sz="3400" b="1" dirty="0">
                <a:solidFill>
                  <a:schemeClr val="tx1"/>
                </a:solidFill>
              </a:rPr>
              <a:t>Le cœur est prêt, la suite s’y branche</a:t>
            </a:r>
            <a:endParaRPr lang="en-US" sz="3400" dirty="0"/>
          </a:p>
        </p:txBody>
      </p:sp>
      <p:sp>
        <p:nvSpPr>
          <p:cNvPr id="3" name="etape-1-carte"/>
          <p:cNvSpPr/>
          <p:nvPr/>
        </p:nvSpPr>
        <p:spPr>
          <a:xfrm>
            <a:off x="640080" y="1691640"/>
            <a:ext cx="3337560" cy="3566160"/>
          </a:xfrm>
          <a:prstGeom prst="roundRect">
            <a:avLst>
              <a:gd name="adj" fmla="val 4110"/>
            </a:avLst>
          </a:prstGeom>
          <a:solidFill>
            <a:schemeClr val="tx1"/>
          </a:solidFill>
          <a:ln/>
        </p:spPr>
      </p:sp>
      <p:sp>
        <p:nvSpPr>
          <p:cNvPr id="4" name="etape-1-etat"/>
          <p:cNvSpPr txBox="1"/>
          <p:nvPr/>
        </p:nvSpPr>
        <p:spPr>
          <a:xfrm>
            <a:off x="960120" y="1965960"/>
            <a:ext cx="2743200" cy="320040"/>
          </a:xfrm>
          <a:prstGeom prst="rect">
            <a:avLst/>
          </a:prstGeom>
          <a:noFill/>
          <a:ln/>
        </p:spPr>
        <p:txBody>
          <a:bodyPr wrap="square" lIns="0" tIns="0" rIns="0" bIns="0" rtlCol="0" anchor="ctr"/>
          <a:lstStyle/>
          <a:p>
            <a:pPr indent="0" marL="0">
              <a:buNone/>
            </a:pPr>
            <a:r>
              <a:rPr lang="en-US" sz="1200" b="1" spc="300" kern="0" dirty="0">
                <a:solidFill>
                  <a:schemeClr val="accent2"/>
                </a:solidFill>
              </a:rPr>
              <a:t>LIVRÉ</a:t>
            </a:r>
            <a:endParaRPr lang="en-US" sz="1200" dirty="0"/>
          </a:p>
        </p:txBody>
      </p:sp>
      <p:sp>
        <p:nvSpPr>
          <p:cNvPr id="5" name="etape-1-titre"/>
          <p:cNvSpPr txBox="1"/>
          <p:nvPr/>
        </p:nvSpPr>
        <p:spPr>
          <a:xfrm>
            <a:off x="960120" y="2331720"/>
            <a:ext cx="2743200" cy="640080"/>
          </a:xfrm>
          <a:prstGeom prst="rect">
            <a:avLst/>
          </a:prstGeom>
          <a:noFill/>
          <a:ln/>
        </p:spPr>
        <p:txBody>
          <a:bodyPr wrap="square" lIns="0" tIns="0" rIns="0" bIns="0" rtlCol="0" anchor="ctr"/>
          <a:lstStyle/>
          <a:p>
            <a:pPr indent="0" marL="0">
              <a:buNone/>
            </a:pPr>
            <a:r>
              <a:rPr lang="en-US" sz="3000" b="1" dirty="0">
                <a:solidFill>
                  <a:schemeClr val="bg1"/>
                </a:solidFill>
              </a:rPr>
              <a:t>MVP</a:t>
            </a:r>
            <a:endParaRPr lang="en-US" sz="3000" dirty="0"/>
          </a:p>
        </p:txBody>
      </p:sp>
      <p:sp>
        <p:nvSpPr>
          <p:cNvPr id="6" name="etape-1-liste"/>
          <p:cNvSpPr txBox="1"/>
          <p:nvPr/>
        </p:nvSpPr>
        <p:spPr>
          <a:xfrm>
            <a:off x="960120" y="3154680"/>
            <a:ext cx="274320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DCE3F5"/>
                </a:solidFill>
              </a:rPr>
              <a:t>Moteur de réservation</a:t>
            </a:r>
            <a:endParaRPr lang="en-US" sz="1500" dirty="0"/>
          </a:p>
          <a:p>
            <a:pPr marL="342900" indent="-342900">
              <a:spcAft>
                <a:spcPts val="800"/>
              </a:spcAft>
              <a:buSzPct val="100000"/>
              <a:buChar char="•"/>
            </a:pPr>
            <a:r>
              <a:rPr lang="en-US" sz="1500" dirty="0">
                <a:solidFill>
                  <a:srgbClr val="DCE3F5"/>
                </a:solidFill>
              </a:rPr>
              <a:t>Plan de salle et CRM</a:t>
            </a:r>
            <a:endParaRPr lang="en-US" sz="1500" dirty="0"/>
          </a:p>
          <a:p>
            <a:pPr marL="342900" indent="-342900">
              <a:spcAft>
                <a:spcPts val="800"/>
              </a:spcAft>
              <a:buSzPct val="100000"/>
              <a:buChar char="•"/>
            </a:pPr>
            <a:r>
              <a:rPr lang="en-US" sz="1500" dirty="0">
                <a:solidFill>
                  <a:srgbClr val="DCE3F5"/>
                </a:solidFill>
              </a:rPr>
              <a:t>Serveurs et temps réel</a:t>
            </a:r>
            <a:endParaRPr lang="en-US" sz="1500" dirty="0"/>
          </a:p>
          <a:p>
            <a:pPr marL="342900" indent="-342900">
              <a:spcAft>
                <a:spcPts val="800"/>
              </a:spcAft>
              <a:buSzPct val="100000"/>
              <a:buChar char="•"/>
            </a:pPr>
            <a:r>
              <a:rPr lang="en-US" sz="1500" dirty="0">
                <a:solidFill>
                  <a:srgbClr val="DCE3F5"/>
                </a:solidFill>
              </a:rPr>
              <a:t>Acomptes, rappels, liste d’attente</a:t>
            </a:r>
            <a:endParaRPr lang="en-US" sz="1500" dirty="0"/>
          </a:p>
        </p:txBody>
      </p:sp>
      <p:pic>
        <p:nvPicPr>
          <p:cNvPr id="7" name="etape-1-fleche" descr="preencoded.png">    </p:cNvPr>
          <p:cNvPicPr>
            <a:picLocks noChangeAspect="1"/>
          </p:cNvPicPr>
          <p:nvPr/>
        </p:nvPicPr>
        <p:blipFill>
          <a:blip r:embed="rId1"/>
          <a:stretch>
            <a:fillRect/>
          </a:stretch>
        </p:blipFill>
        <p:spPr>
          <a:xfrm>
            <a:off x="4050792" y="3611880"/>
            <a:ext cx="310896" cy="310896"/>
          </a:xfrm>
          <a:prstGeom prst="rect">
            <a:avLst/>
          </a:prstGeom>
        </p:spPr>
      </p:pic>
      <p:sp>
        <p:nvSpPr>
          <p:cNvPr id="8" name="etape-2-carte"/>
          <p:cNvSpPr/>
          <p:nvPr/>
        </p:nvSpPr>
        <p:spPr>
          <a:xfrm>
            <a:off x="4434840" y="1691640"/>
            <a:ext cx="3337560" cy="3566160"/>
          </a:xfrm>
          <a:prstGeom prst="roundRect">
            <a:avLst>
              <a:gd name="adj" fmla="val 4110"/>
            </a:avLst>
          </a:prstGeom>
          <a:solidFill>
            <a:schemeClr val="bg2"/>
          </a:solidFill>
          <a:ln/>
        </p:spPr>
      </p:sp>
      <p:sp>
        <p:nvSpPr>
          <p:cNvPr id="9" name="etape-2-etat"/>
          <p:cNvSpPr txBox="1"/>
          <p:nvPr/>
        </p:nvSpPr>
        <p:spPr>
          <a:xfrm>
            <a:off x="4754880" y="1965960"/>
            <a:ext cx="27432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ENSUITE</a:t>
            </a:r>
            <a:endParaRPr lang="en-US" sz="1200" dirty="0"/>
          </a:p>
        </p:txBody>
      </p:sp>
      <p:sp>
        <p:nvSpPr>
          <p:cNvPr id="10" name="etape-2-titre"/>
          <p:cNvSpPr txBox="1"/>
          <p:nvPr/>
        </p:nvSpPr>
        <p:spPr>
          <a:xfrm>
            <a:off x="4754880" y="2331720"/>
            <a:ext cx="2743200" cy="640080"/>
          </a:xfrm>
          <a:prstGeom prst="rect">
            <a:avLst/>
          </a:prstGeom>
          <a:noFill/>
          <a:ln/>
        </p:spPr>
        <p:txBody>
          <a:bodyPr wrap="square" lIns="0" tIns="0" rIns="0" bIns="0" rtlCol="0" anchor="ctr"/>
          <a:lstStyle/>
          <a:p>
            <a:pPr indent="0" marL="0">
              <a:buNone/>
            </a:pPr>
            <a:r>
              <a:rPr lang="en-US" sz="3000" b="1" dirty="0">
                <a:solidFill>
                  <a:schemeClr val="tx1"/>
                </a:solidFill>
              </a:rPr>
              <a:t>V2</a:t>
            </a:r>
            <a:endParaRPr lang="en-US" sz="3000" dirty="0"/>
          </a:p>
        </p:txBody>
      </p:sp>
      <p:sp>
        <p:nvSpPr>
          <p:cNvPr id="11" name="etape-2-liste"/>
          <p:cNvSpPr txBox="1"/>
          <p:nvPr/>
        </p:nvSpPr>
        <p:spPr>
          <a:xfrm>
            <a:off x="4754880" y="3154680"/>
            <a:ext cx="274320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IA téléphonique</a:t>
            </a:r>
            <a:endParaRPr lang="en-US" sz="1500" dirty="0"/>
          </a:p>
          <a:p>
            <a:pPr marL="342900" indent="-342900">
              <a:spcAft>
                <a:spcPts val="800"/>
              </a:spcAft>
              <a:buSzPct val="100000"/>
              <a:buChar char="•"/>
            </a:pPr>
            <a:r>
              <a:rPr lang="en-US" sz="1500" dirty="0">
                <a:solidFill>
                  <a:schemeClr val="tx1"/>
                </a:solidFill>
              </a:rPr>
              <a:t>Connecteurs caisse et cuisine</a:t>
            </a:r>
            <a:endParaRPr lang="en-US" sz="1500" dirty="0"/>
          </a:p>
          <a:p>
            <a:pPr marL="342900" indent="-342900">
              <a:spcAft>
                <a:spcPts val="800"/>
              </a:spcAft>
              <a:buSzPct val="100000"/>
              <a:buChar char="•"/>
            </a:pPr>
            <a:r>
              <a:rPr lang="en-US" sz="1500" dirty="0">
                <a:solidFill>
                  <a:schemeClr val="tx1"/>
                </a:solidFill>
              </a:rPr>
              <a:t>QR menu et commandes</a:t>
            </a:r>
            <a:endParaRPr lang="en-US" sz="1500" dirty="0"/>
          </a:p>
        </p:txBody>
      </p:sp>
      <p:pic>
        <p:nvPicPr>
          <p:cNvPr id="12" name="etape-2-fleche" descr="preencoded.png">    </p:cNvPr>
          <p:cNvPicPr>
            <a:picLocks noChangeAspect="1"/>
          </p:cNvPicPr>
          <p:nvPr/>
        </p:nvPicPr>
        <p:blipFill>
          <a:blip r:embed="rId2"/>
          <a:stretch>
            <a:fillRect/>
          </a:stretch>
        </p:blipFill>
        <p:spPr>
          <a:xfrm>
            <a:off x="7845552" y="3611880"/>
            <a:ext cx="310896" cy="310896"/>
          </a:xfrm>
          <a:prstGeom prst="rect">
            <a:avLst/>
          </a:prstGeom>
        </p:spPr>
      </p:pic>
      <p:sp>
        <p:nvSpPr>
          <p:cNvPr id="13" name="etape-3-carte"/>
          <p:cNvSpPr/>
          <p:nvPr/>
        </p:nvSpPr>
        <p:spPr>
          <a:xfrm>
            <a:off x="8229600" y="1691640"/>
            <a:ext cx="3337560" cy="3566160"/>
          </a:xfrm>
          <a:prstGeom prst="roundRect">
            <a:avLst>
              <a:gd name="adj" fmla="val 4110"/>
            </a:avLst>
          </a:prstGeom>
          <a:solidFill>
            <a:schemeClr val="bg2"/>
          </a:solidFill>
          <a:ln/>
        </p:spPr>
      </p:sp>
      <p:sp>
        <p:nvSpPr>
          <p:cNvPr id="14" name="etape-3-etat"/>
          <p:cNvSpPr txBox="1"/>
          <p:nvPr/>
        </p:nvSpPr>
        <p:spPr>
          <a:xfrm>
            <a:off x="8549640" y="1965960"/>
            <a:ext cx="27432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PLUS TARD</a:t>
            </a:r>
            <a:endParaRPr lang="en-US" sz="1200" dirty="0"/>
          </a:p>
        </p:txBody>
      </p:sp>
      <p:sp>
        <p:nvSpPr>
          <p:cNvPr id="15" name="etape-3-titre"/>
          <p:cNvSpPr txBox="1"/>
          <p:nvPr/>
        </p:nvSpPr>
        <p:spPr>
          <a:xfrm>
            <a:off x="8549640" y="2331720"/>
            <a:ext cx="2743200" cy="640080"/>
          </a:xfrm>
          <a:prstGeom prst="rect">
            <a:avLst/>
          </a:prstGeom>
          <a:noFill/>
          <a:ln/>
        </p:spPr>
        <p:txBody>
          <a:bodyPr wrap="square" lIns="0" tIns="0" rIns="0" bIns="0" rtlCol="0" anchor="ctr"/>
          <a:lstStyle/>
          <a:p>
            <a:pPr indent="0" marL="0">
              <a:buNone/>
            </a:pPr>
            <a:r>
              <a:rPr lang="en-US" sz="3000" b="1" dirty="0">
                <a:solidFill>
                  <a:schemeClr val="tx1"/>
                </a:solidFill>
              </a:rPr>
              <a:t>V3</a:t>
            </a:r>
            <a:endParaRPr lang="en-US" sz="3000" dirty="0"/>
          </a:p>
        </p:txBody>
      </p:sp>
      <p:sp>
        <p:nvSpPr>
          <p:cNvPr id="16" name="etape-3-liste"/>
          <p:cNvSpPr txBox="1"/>
          <p:nvPr/>
        </p:nvSpPr>
        <p:spPr>
          <a:xfrm>
            <a:off x="8549640" y="3154680"/>
            <a:ext cx="274320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Marketing</a:t>
            </a:r>
            <a:endParaRPr lang="en-US" sz="1500" dirty="0"/>
          </a:p>
          <a:p>
            <a:pPr marL="342900" indent="-342900">
              <a:spcAft>
                <a:spcPts val="800"/>
              </a:spcAft>
              <a:buSzPct val="100000"/>
              <a:buChar char="•"/>
            </a:pPr>
            <a:r>
              <a:rPr lang="en-US" sz="1500" dirty="0">
                <a:solidFill>
                  <a:schemeClr val="tx1"/>
                </a:solidFill>
              </a:rPr>
              <a:t>AI Manager</a:t>
            </a:r>
            <a:endParaRPr lang="en-US" sz="1500" dirty="0"/>
          </a:p>
          <a:p>
            <a:pPr marL="342900" indent="-342900">
              <a:spcAft>
                <a:spcPts val="800"/>
              </a:spcAft>
              <a:buSzPct val="100000"/>
              <a:buChar char="•"/>
            </a:pPr>
            <a:r>
              <a:rPr lang="en-US" sz="1500" dirty="0">
                <a:solidFill>
                  <a:schemeClr val="tx1"/>
                </a:solidFill>
              </a:rPr>
              <a:t>Multi-sites et API publique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914400"/>
          </a:xfrm>
          <a:prstGeom prst="rect">
            <a:avLst/>
          </a:prstGeom>
          <a:noFill/>
          <a:ln/>
        </p:spPr>
        <p:txBody>
          <a:bodyPr wrap="square" lIns="0" tIns="0" rIns="0" bIns="0" rtlCol="0" anchor="ctr"/>
          <a:lstStyle/>
          <a:p>
            <a:pPr algn="l" indent="0" marL="0">
              <a:buNone/>
            </a:pPr>
            <a:r>
              <a:rPr lang="en-US" sz="3600" b="1" dirty="0">
                <a:solidFill>
                  <a:schemeClr val="bg1"/>
                </a:solidFill>
              </a:rPr>
              <a:t>Prochaines étapes</a:t>
            </a:r>
            <a:endParaRPr lang="en-US" sz="3600" dirty="0"/>
          </a:p>
        </p:txBody>
      </p:sp>
      <p:sp>
        <p:nvSpPr>
          <p:cNvPr id="3" name="etape-suivante-1-pastille"/>
          <p:cNvSpPr/>
          <p:nvPr/>
        </p:nvSpPr>
        <p:spPr>
          <a:xfrm>
            <a:off x="640080" y="1783080"/>
            <a:ext cx="685800" cy="685800"/>
          </a:xfrm>
          <a:prstGeom prst="ellipse">
            <a:avLst/>
          </a:prstGeom>
          <a:solidFill>
            <a:schemeClr val="accent2"/>
          </a:solidFill>
          <a:ln/>
        </p:spPr>
      </p:sp>
      <p:sp>
        <p:nvSpPr>
          <p:cNvPr id="4" name="etape-suivante-1-numero"/>
          <p:cNvSpPr txBox="1"/>
          <p:nvPr/>
        </p:nvSpPr>
        <p:spPr>
          <a:xfrm>
            <a:off x="640080" y="178308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5" name="etape-suivante-1-texte"/>
          <p:cNvSpPr txBox="1"/>
          <p:nvPr/>
        </p:nvSpPr>
        <p:spPr>
          <a:xfrm>
            <a:off x="1600200" y="1764792"/>
            <a:ext cx="6583680" cy="1005840"/>
          </a:xfrm>
          <a:prstGeom prst="rect">
            <a:avLst/>
          </a:prstGeom>
          <a:noFill/>
          <a:ln/>
        </p:spPr>
        <p:txBody>
          <a:bodyPr wrap="square" lIns="0" tIns="0" rIns="0" bIns="0" rtlCol="0" anchor="t"/>
          <a:lstStyle/>
          <a:p>
            <a:pPr indent="0" marL="0">
              <a:buNone/>
            </a:pPr>
            <a:r>
              <a:rPr lang="en-US" sz="2100" b="1" dirty="0">
                <a:solidFill>
                  <a:schemeClr val="bg1"/>
                </a:solidFill>
              </a:rPr>
              <a:t>Voir la démo</a:t>
            </a:r>
            <a:endParaRPr lang="en-US" sz="2100" dirty="0"/>
          </a:p>
          <a:p>
            <a:pPr indent="0" marL="0">
              <a:buNone/>
            </a:pPr>
            <a:r>
              <a:rPr lang="en-US" sz="1500" dirty="0">
                <a:solidFill>
                  <a:srgbClr val="C9D0DE"/>
                </a:solidFill>
              </a:rPr>
              <a:t>Le vrai produit tourne en ligne : réservation, tableau de bord et application de salle.</a:t>
            </a:r>
            <a:endParaRPr lang="en-US" sz="2100" dirty="0"/>
          </a:p>
        </p:txBody>
      </p:sp>
      <p:sp>
        <p:nvSpPr>
          <p:cNvPr id="6" name="etape-suivante-2-pastille"/>
          <p:cNvSpPr/>
          <p:nvPr/>
        </p:nvSpPr>
        <p:spPr>
          <a:xfrm>
            <a:off x="640080" y="3017520"/>
            <a:ext cx="685800" cy="685800"/>
          </a:xfrm>
          <a:prstGeom prst="ellipse">
            <a:avLst/>
          </a:prstGeom>
          <a:solidFill>
            <a:schemeClr val="accent2"/>
          </a:solidFill>
          <a:ln/>
        </p:spPr>
      </p:sp>
      <p:sp>
        <p:nvSpPr>
          <p:cNvPr id="7" name="etape-suivante-2-numero"/>
          <p:cNvSpPr txBox="1"/>
          <p:nvPr/>
        </p:nvSpPr>
        <p:spPr>
          <a:xfrm>
            <a:off x="640080" y="301752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8" name="etape-suivante-2-texte"/>
          <p:cNvSpPr txBox="1"/>
          <p:nvPr/>
        </p:nvSpPr>
        <p:spPr>
          <a:xfrm>
            <a:off x="1600200" y="2999232"/>
            <a:ext cx="6583680" cy="1005840"/>
          </a:xfrm>
          <a:prstGeom prst="rect">
            <a:avLst/>
          </a:prstGeom>
          <a:noFill/>
          <a:ln/>
        </p:spPr>
        <p:txBody>
          <a:bodyPr wrap="square" lIns="0" tIns="0" rIns="0" bIns="0" rtlCol="0" anchor="t"/>
          <a:lstStyle/>
          <a:p>
            <a:pPr indent="0" marL="0">
              <a:buNone/>
            </a:pPr>
            <a:r>
              <a:rPr lang="en-US" sz="2100" b="1" dirty="0">
                <a:solidFill>
                  <a:schemeClr val="bg1"/>
                </a:solidFill>
              </a:rPr>
              <a:t>Mettre en ligne</a:t>
            </a:r>
            <a:endParaRPr lang="en-US" sz="2100" dirty="0"/>
          </a:p>
          <a:p>
            <a:pPr indent="0" marL="0">
              <a:buNone/>
            </a:pPr>
            <a:r>
              <a:rPr lang="en-US" sz="1500" dirty="0">
                <a:solidFill>
                  <a:srgbClr val="C9D0DE"/>
                </a:solidFill>
              </a:rPr>
              <a:t>Un nom de domaine, un compte Stripe, un compte email, un hébergeur.</a:t>
            </a:r>
            <a:endParaRPr lang="en-US" sz="2100" dirty="0"/>
          </a:p>
        </p:txBody>
      </p:sp>
      <p:sp>
        <p:nvSpPr>
          <p:cNvPr id="9" name="etape-suivante-3-pastille"/>
          <p:cNvSpPr/>
          <p:nvPr/>
        </p:nvSpPr>
        <p:spPr>
          <a:xfrm>
            <a:off x="640080" y="4251960"/>
            <a:ext cx="685800" cy="685800"/>
          </a:xfrm>
          <a:prstGeom prst="ellipse">
            <a:avLst/>
          </a:prstGeom>
          <a:solidFill>
            <a:schemeClr val="accent2"/>
          </a:solidFill>
          <a:ln/>
        </p:spPr>
      </p:sp>
      <p:sp>
        <p:nvSpPr>
          <p:cNvPr id="10" name="etape-suivante-3-numero"/>
          <p:cNvSpPr txBox="1"/>
          <p:nvPr/>
        </p:nvSpPr>
        <p:spPr>
          <a:xfrm>
            <a:off x="640080" y="425196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1" name="etape-suivante-3-texte"/>
          <p:cNvSpPr txBox="1"/>
          <p:nvPr/>
        </p:nvSpPr>
        <p:spPr>
          <a:xfrm>
            <a:off x="1600200" y="4233672"/>
            <a:ext cx="6583680" cy="1005840"/>
          </a:xfrm>
          <a:prstGeom prst="rect">
            <a:avLst/>
          </a:prstGeom>
          <a:noFill/>
          <a:ln/>
        </p:spPr>
        <p:txBody>
          <a:bodyPr wrap="square" lIns="0" tIns="0" rIns="0" bIns="0" rtlCol="0" anchor="t"/>
          <a:lstStyle/>
          <a:p>
            <a:pPr indent="0" marL="0">
              <a:buNone/>
            </a:pPr>
            <a:r>
              <a:rPr lang="en-US" sz="2100" b="1" dirty="0">
                <a:solidFill>
                  <a:schemeClr val="bg1"/>
                </a:solidFill>
              </a:rPr>
              <a:t>Cinq restaurants pilotes</a:t>
            </a:r>
            <a:endParaRPr lang="en-US" sz="2100" dirty="0"/>
          </a:p>
          <a:p>
            <a:pPr indent="0" marL="0">
              <a:buNone/>
            </a:pPr>
            <a:r>
              <a:rPr lang="en-US" sz="1500" dirty="0">
                <a:solidFill>
                  <a:srgbClr val="C9D0DE"/>
                </a:solidFill>
              </a:rPr>
              <a:t>Les regarder s’en servir pendant un mois, puis ajuster.</a:t>
            </a:r>
            <a:endParaRPr lang="en-US" sz="2100" dirty="0"/>
          </a:p>
        </p:txBody>
      </p:sp>
      <p:sp>
        <p:nvSpPr>
          <p:cNvPr id="12" name="marque-fin"/>
          <p:cNvSpPr txBox="1"/>
          <p:nvPr/>
        </p:nvSpPr>
        <p:spPr>
          <a:xfrm>
            <a:off x="8595360" y="2194560"/>
            <a:ext cx="3017520" cy="731520"/>
          </a:xfrm>
          <a:prstGeom prst="rect">
            <a:avLst/>
          </a:prstGeom>
          <a:noFill/>
          <a:ln/>
        </p:spPr>
        <p:txBody>
          <a:bodyPr wrap="square" lIns="0" tIns="0" rIns="0" bIns="0" rtlCol="0" anchor="ctr"/>
          <a:lstStyle/>
          <a:p>
            <a:pPr algn="r" indent="0" marL="0">
              <a:buNone/>
            </a:pPr>
            <a:r>
              <a:rPr lang="en-US" sz="3600" b="1" spc="1400" kern="0" dirty="0">
                <a:solidFill>
                  <a:schemeClr val="bg1"/>
                </a:solidFill>
                <a:latin typeface="Calibri" pitchFamily="34" charset="0"/>
                <a:ea typeface="Calibri" pitchFamily="34" charset="-122"/>
                <a:cs typeface="Calibri" pitchFamily="34" charset="-120"/>
              </a:rPr>
              <a:t>ORSYNE</a:t>
            </a:r>
            <a:endParaRPr lang="en-US" sz="3600" dirty="0"/>
          </a:p>
        </p:txBody>
      </p:sp>
      <p:sp>
        <p:nvSpPr>
          <p:cNvPr id="13" name="slogan-fin"/>
          <p:cNvSpPr txBox="1"/>
          <p:nvPr/>
        </p:nvSpPr>
        <p:spPr>
          <a:xfrm>
            <a:off x="8595360" y="2926080"/>
            <a:ext cx="3017520" cy="640080"/>
          </a:xfrm>
          <a:prstGeom prst="rect">
            <a:avLst/>
          </a:prstGeom>
          <a:noFill/>
          <a:ln/>
        </p:spPr>
        <p:txBody>
          <a:bodyPr wrap="square" lIns="0" tIns="0" rIns="0" bIns="0" rtlCol="0" anchor="ctr"/>
          <a:lstStyle/>
          <a:p>
            <a:pPr algn="r" indent="0" marL="0">
              <a:buNone/>
            </a:pPr>
            <a:r>
              <a:rPr lang="en-US" sz="2600" i="1" dirty="0">
                <a:solidFill>
                  <a:schemeClr val="accent2"/>
                </a:solidFill>
                <a:latin typeface="Cambria" pitchFamily="34" charset="0"/>
                <a:ea typeface="Cambria" pitchFamily="34" charset="-122"/>
                <a:cs typeface="Cambria" pitchFamily="34" charset="-120"/>
              </a:rPr>
              <a:t>Tout s’accorde.</a:t>
            </a:r>
            <a:endParaRPr lang="en-US" sz="2600" dirty="0"/>
          </a:p>
        </p:txBody>
      </p:sp>
      <p:sp>
        <p:nvSpPr>
          <p:cNvPr id="14" name="lien-demo"/>
          <p:cNvSpPr txBox="1"/>
          <p:nvPr/>
        </p:nvSpPr>
        <p:spPr>
          <a:xfrm>
            <a:off x="640080" y="5897880"/>
            <a:ext cx="10881360" cy="365760"/>
          </a:xfrm>
          <a:prstGeom prst="rect">
            <a:avLst/>
          </a:prstGeom>
          <a:noFill/>
          <a:ln/>
        </p:spPr>
        <p:txBody>
          <a:bodyPr wrap="square" lIns="0" tIns="0" rIns="0" bIns="0" rtlCol="0" anchor="ctr"/>
          <a:lstStyle/>
          <a:p>
            <a:pPr indent="0" marL="0">
              <a:buNone/>
            </a:pPr>
            <a:r>
              <a:rPr lang="en-US" sz="1300" dirty="0">
                <a:solidFill>
                  <a:srgbClr val="8A93A6"/>
                </a:solidFill>
              </a:rPr>
              <a:t>Démo : </a:t>
            </a:r>
            <a:pPr indent="0" marL="0">
              <a:buNone/>
            </a:pPr>
            <a:r>
              <a:rPr lang="en-US" sz="1300" u="sng" dirty="0">
                <a:solidFill>
                  <a:srgbClr val="C9D0DE"/>
                </a:solidFill>
                <a:hlinkClick r:id="rId1" invalidUrl="" action="" tgtFrame="" tooltip="" history="1" highlightClick="0" endSnd="0">
                  <a:extLst>
                    <a:ext uri="{A12FA001-AC4F-418D-AE19-62706E023703}">
                      <ahyp:hlinkClr xmlns:ahyp="http://schemas.microsoft.com/office/drawing/2018/hyperlinkcolor" val="tx"/>
                    </a:ext>
                  </a:extLst>
                </a:hlinkClick>
              </a:rPr>
              <a:t>claude.ai/artifact/Fx744E3RsFN4tTLeFYyFXW</a:t>
            </a:r>
            <a:endParaRPr lang="en-US" sz="1300" dirty="0"/>
          </a:p>
        </p:txBody>
      </p:sp>
    </p:spTree>
  </p:cSld>
  <p:clrMapOvr>
    <a:masterClrMapping/>
  </p:clrMapOvr>
</p:sld>
</file>

<file path=ppt/theme/theme1.xml><?xml version="1.0" encoding="utf-8"?>
<a:theme xmlns:a="http://schemas.openxmlformats.org/drawingml/2006/main" name="ORSYNE">
  <a:themeElements>
    <a:clrScheme name="ORSYNE">
      <a:dk1>
        <a:srgbClr val="0D1220"/>
      </a:dk1>
      <a:lt1>
        <a:srgbClr val="FFFFFF"/>
      </a:lt1>
      <a:dk2>
        <a:srgbClr val="1F3A8A"/>
      </a:dk2>
      <a:lt2>
        <a:srgbClr val="EEF1F7"/>
      </a:lt2>
      <a:accent1>
        <a:srgbClr val="B4761A"/>
      </a:accent1>
      <a:accent2>
        <a:srgbClr val="E3A54A"/>
      </a:accent2>
      <a:accent3>
        <a:srgbClr val="1F3A8A"/>
      </a:accent3>
      <a:accent4>
        <a:srgbClr val="A52432"/>
      </a:accent4>
      <a:accent5>
        <a:srgbClr val="1C7A52"/>
      </a:accent5>
      <a:accent6>
        <a:srgbClr val="5A6478"/>
      </a:accent6>
      <a:hlink>
        <a:srgbClr val="1F3A8A"/>
      </a:hlink>
      <a:folHlink>
        <a:srgbClr val="5A6478"/>
      </a:folHlink>
    </a:clrScheme>
    <a:fontScheme name="ORSY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ORSYNE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ORSYNE — présentation</dc:title>
  <dc:subject>PptxGenJS Presentation</dc:subject>
  <dc:creator>ORSYNE</dc:creator>
  <cp:lastModifiedBy>ORSYNE</cp:lastModifiedBy>
  <cp:revision>1</cp:revision>
  <dcterms:created xsi:type="dcterms:W3CDTF">2026-10-07T12:29:04Z</dcterms:created>
  <dcterms:modified xsi:type="dcterms:W3CDTF">2026-10-07T12:29:04Z</dcterms:modified>
</cp:coreProperties>
</file>